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7eb0b29-6bc4-4fc9-9acf-59c8e3f27356}">
          <p14:sldIdLst>
            <p14:sldId id="256"/>
            <p14:sldId id="257"/>
            <p14:sldId id="258"/>
          </p14:sldIdLst>
        </p14:section>
        <p14:section name="Build and ship" id="{6c5e84dc-1971-0cdc-550b-27896fa7c9d2}">
          <p14:sldIdLst>
            <p14:sldId id="259"/>
            <p14:sldId id="260"/>
            <p14:sldId id="261"/>
            <p14:sldId id="262"/>
            <p14:sldId id="263"/>
          </p14:sldIdLst>
        </p14:section>
        <p14:section name="Infrastructure" id="{be12becc-9e81-bda6-1cd5-2a5ccd88ce69}">
          <p14:sldIdLst>
            <p14:sldId id="264"/>
            <p14:sldId id="265"/>
            <p14:sldId id="266"/>
            <p14:sldId id="267"/>
          </p14:sldIdLst>
        </p14:section>
        <p14:section name="Operate" id="{8a684894-f92a-ca14-08a1-ab9a19ad2dbc}">
          <p14:sldIdLst>
            <p14:sldId id="268"/>
            <p14:sldId id="269"/>
          </p14:sldIdLst>
        </p14:section>
        <p14:section name="Live demo" id="{7fe604fa-a087-b3d9-22fa-3dcd80864dde}">
          <p14:sldIdLst>
            <p14:sldId id="270"/>
            <p14:sldId id="271"/>
          </p14:sldIdLst>
        </p14:section>
        <p14:section name="Wrap-up" id="{cc03a83e-a391-25f0-8e10-483d5e878818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+mn-lt"/>
              </a:rPr>
              <a:t>kubectl get hpa every 15 s during scripts/load-test.sh (8 workers, 180 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CPU, % of request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  <c:pt idx="7">
                    <c:v>105</c:v>
                  </c:pt>
                  <c:pt idx="8">
                    <c:v>120</c:v>
                  </c:pt>
                  <c:pt idx="9">
                    <c:v>135</c:v>
                  </c:pt>
                  <c:pt idx="10">
                    <c:v>150</c:v>
                  </c:pt>
                  <c:pt idx="11">
                    <c:v>165</c:v>
                  </c:pt>
                  <c:pt idx="12">
                    <c:v>180</c:v>
                  </c:pt>
                  <c:pt idx="13">
                    <c:v>195</c:v>
                  </c:pt>
                  <c:pt idx="14">
                    <c:v>210</c:v>
                  </c:pt>
                  <c:pt idx="15">
                    <c:v>225</c:v>
                  </c:pt>
                  <c:pt idx="16">
                    <c:v>240</c:v>
                  </c:pt>
                  <c:pt idx="17">
                    <c:v>255</c:v>
                  </c:pt>
                  <c:pt idx="18">
                    <c:v>270</c:v>
                  </c:pt>
                  <c:pt idx="19">
                    <c:v>285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</c:v>
                </c:pt>
                <c:pt idx="1">
                  <c:v>79</c:v>
                </c:pt>
                <c:pt idx="2">
                  <c:v>411</c:v>
                </c:pt>
                <c:pt idx="3">
                  <c:v>372</c:v>
                </c:pt>
                <c:pt idx="4">
                  <c:v>378</c:v>
                </c:pt>
                <c:pt idx="5">
                  <c:v>364</c:v>
                </c:pt>
                <c:pt idx="6">
                  <c:v>362</c:v>
                </c:pt>
                <c:pt idx="7">
                  <c:v>336</c:v>
                </c:pt>
                <c:pt idx="8">
                  <c:v>337</c:v>
                </c:pt>
                <c:pt idx="9">
                  <c:v>343</c:v>
                </c:pt>
                <c:pt idx="10">
                  <c:v>334</c:v>
                </c:pt>
                <c:pt idx="11">
                  <c:v>335</c:v>
                </c:pt>
                <c:pt idx="12">
                  <c:v>319</c:v>
                </c:pt>
                <c:pt idx="13">
                  <c:v>333</c:v>
                </c:pt>
                <c:pt idx="14">
                  <c:v>328</c:v>
                </c:pt>
                <c:pt idx="15">
                  <c:v>271</c:v>
                </c:pt>
                <c:pt idx="16">
                  <c:v>42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Backend replicas</c:v>
                </c:pt>
              </c:strCache>
            </c:strRef>
          </c:tx>
          <c:spPr>
            <a:solidFill>
              <a:srgbClr val="D97706"/>
            </a:solidFill>
            <a:ln w="381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  <c:pt idx="7">
                    <c:v>105</c:v>
                  </c:pt>
                  <c:pt idx="8">
                    <c:v>120</c:v>
                  </c:pt>
                  <c:pt idx="9">
                    <c:v>135</c:v>
                  </c:pt>
                  <c:pt idx="10">
                    <c:v>150</c:v>
                  </c:pt>
                  <c:pt idx="11">
                    <c:v>165</c:v>
                  </c:pt>
                  <c:pt idx="12">
                    <c:v>180</c:v>
                  </c:pt>
                  <c:pt idx="13">
                    <c:v>195</c:v>
                  </c:pt>
                  <c:pt idx="14">
                    <c:v>210</c:v>
                  </c:pt>
                  <c:pt idx="15">
                    <c:v>225</c:v>
                  </c:pt>
                  <c:pt idx="16">
                    <c:v>240</c:v>
                  </c:pt>
                  <c:pt idx="17">
                    <c:v>255</c:v>
                  </c:pt>
                  <c:pt idx="18">
                    <c:v>270</c:v>
                  </c:pt>
                  <c:pt idx="19">
                    <c:v>285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+mn-lt"/>
                  </a:rPr>
                  <a:t>seconds since the load started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+mn-lt"/>
                  </a:rPr>
                  <a:t>CPU, % of request (target 60%)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valAx>
        <c:axId val="2094734553"/>
        <c:scaling>
          <c:orientation val="minMax"/>
          <c:max val="7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D97706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D97706"/>
                    </a:solidFill>
                    <a:latin typeface="+mn-lt"/>
                  </a:rPr>
                  <a:t>Replicas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97706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  <c:majorUnit val="1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7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60350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783080"/>
            <a:ext cx="60350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8521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StockPilot · DevOps capstone · Varun Mundada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ilesmoralis2411/devops_project_24bcs10326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lesmoralis2411/devops_project_24bcs10326" TargetMode="External"/><Relationship Id="rId4" Type="http://schemas.openxmlformats.org/officeDocument/2006/relationships/hyperlink" Target="https://github.com/milesmoralis2411/devops_project_24bcs10326/blob/main/docs/SCREENSHOTS.md" TargetMode="External"/><Relationship Id="rId6" Type="http://schemas.openxmlformats.org/officeDocument/2006/relationships/hyperlink" Target="https://github.com/milesmoralis2411/devops_project_24bcs10326/actions/runs/37837734675" TargetMode="External"/><Relationship Id="rId8" Type="http://schemas.openxmlformats.org/officeDocument/2006/relationships/hyperlink" Target="https://github.com/milesmoralis2411/devops_project_24bcs10326" TargetMode="External"/><Relationship Id="rId1" Type="http://schemas.openxmlformats.org/officeDocument/2006/relationships/image" Target="../media/image-19-1.png"/><Relationship Id="rId3" Type="http://schemas.openxmlformats.org/officeDocument/2006/relationships/image" Target="../media/image-19-2.png"/><Relationship Id="rId5" Type="http://schemas.openxmlformats.org/officeDocument/2006/relationships/image" Target="../media/image-19-3.png"/><Relationship Id="rId7" Type="http://schemas.openxmlformats.org/officeDocument/2006/relationships/image" Target="../media/image-19-4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DEVOPS CAPSTONE PROJECT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783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StockPilot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Inventory management, from laptop to monitored Kubernetes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Varun Mundada · 24BCS10326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622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chemeClr val="accent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github.com/milesmoralis2411/devops_project_24bcs10326</a:t>
            </a:r>
            <a:endParaRPr lang="en-US" sz="1300" dirty="0"/>
          </a:p>
        </p:txBody>
      </p:sp>
      <p:sp>
        <p:nvSpPr>
          <p:cNvPr id="7" name="app-ingress-frame"/>
          <p:cNvSpPr/>
          <p:nvPr/>
        </p:nvSpPr>
        <p:spPr>
          <a:xfrm>
            <a:off x="6812280" y="1325880"/>
            <a:ext cx="4828032" cy="3517087"/>
          </a:xfrm>
          <a:prstGeom prst="roundRect">
            <a:avLst>
              <a:gd name="adj" fmla="val 194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app-ingress" descr="StockPilot dashboard served through the Kubernetes Ingress, sidebar showing build b5f988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828032" cy="3517087"/>
          </a:xfrm>
          <a:prstGeom prst="rect">
            <a:avLst/>
          </a:prstGeom>
        </p:spPr>
      </p:pic>
      <p:sp>
        <p:nvSpPr>
          <p:cNvPr id="9" name="pill-FastAPI"/>
          <p:cNvSpPr/>
          <p:nvPr/>
        </p:nvSpPr>
        <p:spPr>
          <a:xfrm>
            <a:off x="548640" y="5669280"/>
            <a:ext cx="810158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5669280"/>
            <a:ext cx="810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FastAPI</a:t>
            </a:r>
            <a:endParaRPr lang="en-US" sz="1100" dirty="0"/>
          </a:p>
        </p:txBody>
      </p:sp>
      <p:sp>
        <p:nvSpPr>
          <p:cNvPr id="11" name="pill-React"/>
          <p:cNvSpPr/>
          <p:nvPr/>
        </p:nvSpPr>
        <p:spPr>
          <a:xfrm>
            <a:off x="1526865" y="5669280"/>
            <a:ext cx="66751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526865" y="5669280"/>
            <a:ext cx="66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React</a:t>
            </a:r>
            <a:endParaRPr lang="en-US" sz="1100" dirty="0"/>
          </a:p>
        </p:txBody>
      </p:sp>
      <p:sp>
        <p:nvSpPr>
          <p:cNvPr id="13" name="pill-PostgreSQL"/>
          <p:cNvSpPr/>
          <p:nvPr/>
        </p:nvSpPr>
        <p:spPr>
          <a:xfrm>
            <a:off x="2362444" y="5669280"/>
            <a:ext cx="1024128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362444" y="56692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5" name="pill-Docker"/>
          <p:cNvSpPr/>
          <p:nvPr/>
        </p:nvSpPr>
        <p:spPr>
          <a:xfrm>
            <a:off x="3554639" y="5669280"/>
            <a:ext cx="738835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554639" y="5669280"/>
            <a:ext cx="738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Docker</a:t>
            </a:r>
            <a:endParaRPr lang="en-US" sz="1100" dirty="0"/>
          </a:p>
        </p:txBody>
      </p:sp>
      <p:sp>
        <p:nvSpPr>
          <p:cNvPr id="17" name="pill-GitHub Actions"/>
          <p:cNvSpPr/>
          <p:nvPr/>
        </p:nvSpPr>
        <p:spPr>
          <a:xfrm>
            <a:off x="4461540" y="5669280"/>
            <a:ext cx="1309421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1540" y="5669280"/>
            <a:ext cx="13094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19" name="pill-Trivy"/>
          <p:cNvSpPr/>
          <p:nvPr/>
        </p:nvSpPr>
        <p:spPr>
          <a:xfrm>
            <a:off x="5939028" y="5669280"/>
            <a:ext cx="66751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39028" y="5669280"/>
            <a:ext cx="66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Trivy</a:t>
            </a:r>
            <a:endParaRPr lang="en-US" sz="1100" dirty="0"/>
          </a:p>
        </p:txBody>
      </p:sp>
      <p:sp>
        <p:nvSpPr>
          <p:cNvPr id="21" name="pill-Terraform"/>
          <p:cNvSpPr/>
          <p:nvPr/>
        </p:nvSpPr>
        <p:spPr>
          <a:xfrm>
            <a:off x="6774607" y="5669280"/>
            <a:ext cx="952805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774607" y="5669280"/>
            <a:ext cx="9528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Terraform</a:t>
            </a:r>
            <a:endParaRPr lang="en-US" sz="1100" dirty="0"/>
          </a:p>
        </p:txBody>
      </p:sp>
      <p:sp>
        <p:nvSpPr>
          <p:cNvPr id="23" name="pill-AWS EKS"/>
          <p:cNvSpPr/>
          <p:nvPr/>
        </p:nvSpPr>
        <p:spPr>
          <a:xfrm>
            <a:off x="7895478" y="5669280"/>
            <a:ext cx="810158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95478" y="5669280"/>
            <a:ext cx="810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AWS EKS</a:t>
            </a:r>
            <a:endParaRPr lang="en-US" sz="1100" dirty="0"/>
          </a:p>
        </p:txBody>
      </p:sp>
      <p:sp>
        <p:nvSpPr>
          <p:cNvPr id="25" name="pill-Helm"/>
          <p:cNvSpPr/>
          <p:nvPr/>
        </p:nvSpPr>
        <p:spPr>
          <a:xfrm>
            <a:off x="8873703" y="5669280"/>
            <a:ext cx="596189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873703" y="5669280"/>
            <a:ext cx="596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Helm</a:t>
            </a:r>
            <a:endParaRPr lang="en-US" sz="1100" dirty="0"/>
          </a:p>
        </p:txBody>
      </p:sp>
      <p:sp>
        <p:nvSpPr>
          <p:cNvPr id="27" name="pill-Prometheus"/>
          <p:cNvSpPr/>
          <p:nvPr/>
        </p:nvSpPr>
        <p:spPr>
          <a:xfrm>
            <a:off x="9637959" y="5669280"/>
            <a:ext cx="1024128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637959" y="56692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Prometheus</a:t>
            </a:r>
            <a:endParaRPr lang="en-US" sz="1100" dirty="0"/>
          </a:p>
        </p:txBody>
      </p:sp>
      <p:sp>
        <p:nvSpPr>
          <p:cNvPr id="29" name="pill-Grafana"/>
          <p:cNvSpPr/>
          <p:nvPr/>
        </p:nvSpPr>
        <p:spPr>
          <a:xfrm>
            <a:off x="10830154" y="5669280"/>
            <a:ext cx="810158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830154" y="5669280"/>
            <a:ext cx="810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Grafana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 inventory system with an audit trail</a:t>
            </a:r>
            <a:endParaRPr lang="en-US" sz="3600" dirty="0"/>
          </a:p>
        </p:txBody>
      </p:sp>
      <p:sp>
        <p:nvSpPr>
          <p:cNvPr id="4" name="Product catalogue-dot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5" name="Product catalogue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181636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733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 catalogue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SKU, supplier, bin location, unit price and reorder level for every item</a:t>
            </a:r>
            <a:endParaRPr lang="en-US" sz="1400" dirty="0"/>
          </a:p>
        </p:txBody>
      </p:sp>
      <p:sp>
        <p:nvSpPr>
          <p:cNvPr id="7" name="Stock movements-dot"/>
          <p:cNvSpPr/>
          <p:nvPr/>
        </p:nvSpPr>
        <p:spPr>
          <a:xfrm>
            <a:off x="548640" y="2807208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8" name="Stock movements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2931932"/>
            <a:ext cx="317480" cy="317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7889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Stock movements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Receipts, sales, customer returns, damage write-offs and stock counts</a:t>
            </a:r>
            <a:endParaRPr lang="en-US" sz="1400" dirty="0"/>
          </a:p>
        </p:txBody>
      </p:sp>
      <p:sp>
        <p:nvSpPr>
          <p:cNvPr id="10" name="Reorder alerts-dot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Reorder alerts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4047500"/>
            <a:ext cx="317480" cy="317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90448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Reorder alerts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Items at or below their reorder level, with one-click restock</a:t>
            </a:r>
            <a:endParaRPr lang="en-US" sz="1400" dirty="0"/>
          </a:p>
        </p:txBody>
      </p:sp>
      <p:sp>
        <p:nvSpPr>
          <p:cNvPr id="13" name="Immutable movement log-dot"/>
          <p:cNvSpPr/>
          <p:nvPr/>
        </p:nvSpPr>
        <p:spPr>
          <a:xfrm>
            <a:off x="548640" y="5038344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4" name="Immutable movement log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5163068"/>
            <a:ext cx="317480" cy="317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502005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Immutable movement 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Quantity changes only through logged adjustments, so every level can be explained</a:t>
            </a:r>
            <a:endParaRPr lang="en-US" sz="1400" dirty="0"/>
          </a:p>
        </p:txBody>
      </p:sp>
      <p:sp>
        <p:nvSpPr>
          <p:cNvPr id="16" name="dashboard-frame"/>
          <p:cNvSpPr/>
          <p:nvPr/>
        </p:nvSpPr>
        <p:spPr>
          <a:xfrm>
            <a:off x="6080760" y="1691640"/>
            <a:ext cx="5559552" cy="3860800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7" name="dashboard" descr="StockPilot dashboard with KPI cards, reorder alerts, recent activity and value by catego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691640"/>
            <a:ext cx="5559552" cy="3860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080760" y="566928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Dashboard: KPIs, reorder alerts, activity feed and inventory value by category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repository, the whole delivery path</a:t>
            </a:r>
            <a:endParaRPr lang="en-US" sz="3600" dirty="0"/>
          </a:p>
        </p:txBody>
      </p:sp>
      <p:sp>
        <p:nvSpPr>
          <p:cNvPr id="4" name="node-Developer"/>
          <p:cNvSpPr/>
          <p:nvPr/>
        </p:nvSpPr>
        <p:spPr>
          <a:xfrm>
            <a:off x="548640" y="1600200"/>
            <a:ext cx="242316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Developer-dot"/>
          <p:cNvSpPr/>
          <p:nvPr/>
        </p:nvSpPr>
        <p:spPr>
          <a:xfrm>
            <a:off x="676656" y="182422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Developer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193" y="1916765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1673352"/>
            <a:ext cx="1673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Developer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git push to main</a:t>
            </a:r>
            <a:endParaRPr lang="en-US" sz="1400" dirty="0"/>
          </a:p>
        </p:txBody>
      </p:sp>
      <p:sp>
        <p:nvSpPr>
          <p:cNvPr id="8" name="node-GitHub"/>
          <p:cNvSpPr/>
          <p:nvPr/>
        </p:nvSpPr>
        <p:spPr>
          <a:xfrm>
            <a:off x="3429000" y="1600200"/>
            <a:ext cx="242316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GitHub-dot"/>
          <p:cNvSpPr/>
          <p:nvPr/>
        </p:nvSpPr>
        <p:spPr>
          <a:xfrm>
            <a:off x="3557016" y="182422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0" name="GitHub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553" y="1916765"/>
            <a:ext cx="235549" cy="2355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673352"/>
            <a:ext cx="1673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public repo, conventional commits</a:t>
            </a:r>
            <a:endParaRPr lang="en-US" sz="1400" dirty="0"/>
          </a:p>
        </p:txBody>
      </p:sp>
      <p:sp>
        <p:nvSpPr>
          <p:cNvPr id="12" name="node-GitHub Actions"/>
          <p:cNvSpPr/>
          <p:nvPr/>
        </p:nvSpPr>
        <p:spPr>
          <a:xfrm>
            <a:off x="6309360" y="1600200"/>
            <a:ext cx="242316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GitHub Actions-dot"/>
          <p:cNvSpPr/>
          <p:nvPr/>
        </p:nvSpPr>
        <p:spPr>
          <a:xfrm>
            <a:off x="6437376" y="182422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4" name="GitHub Actions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913" y="1916765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67728" y="1673352"/>
            <a:ext cx="1673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 Actions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pytest · build · Trivy gate</a:t>
            </a:r>
            <a:endParaRPr lang="en-US" sz="1400" dirty="0"/>
          </a:p>
        </p:txBody>
      </p:sp>
      <p:sp>
        <p:nvSpPr>
          <p:cNvPr id="16" name="node-GHCR"/>
          <p:cNvSpPr/>
          <p:nvPr/>
        </p:nvSpPr>
        <p:spPr>
          <a:xfrm>
            <a:off x="9189720" y="1600200"/>
            <a:ext cx="242316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GHCR-dot"/>
          <p:cNvSpPr/>
          <p:nvPr/>
        </p:nvSpPr>
        <p:spPr>
          <a:xfrm>
            <a:off x="9317736" y="182422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8" name="GHCR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273" y="1916765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848088" y="1673352"/>
            <a:ext cx="1673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GHCR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image:&lt;git SHA&gt;, never latest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3008376" y="2034540"/>
            <a:ext cx="38404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arrow"/>
          <p:cNvSpPr/>
          <p:nvPr/>
        </p:nvSpPr>
        <p:spPr>
          <a:xfrm>
            <a:off x="5888736" y="2034540"/>
            <a:ext cx="38404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8769096" y="2034540"/>
            <a:ext cx="38404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cluster"/>
          <p:cNvSpPr/>
          <p:nvPr/>
        </p:nvSpPr>
        <p:spPr>
          <a:xfrm>
            <a:off x="1965960" y="3017520"/>
            <a:ext cx="9674352" cy="3200400"/>
          </a:xfrm>
          <a:prstGeom prst="roundRect">
            <a:avLst>
              <a:gd name="adj" fmla="val 4571"/>
            </a:avLst>
          </a:prstGeom>
          <a:solidFill>
            <a:schemeClr val="accent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4" name="Text 18"/>
          <p:cNvSpPr txBox="1"/>
          <p:nvPr/>
        </p:nvSpPr>
        <p:spPr>
          <a:xfrm>
            <a:off x="2194560" y="31089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Kubernetes: Amazon EKS 1.36 in a Terraform-built VPC (kind cluster for local runs)</a:t>
            </a:r>
            <a:endParaRPr lang="en-US" sz="1200" dirty="0"/>
          </a:p>
        </p:txBody>
      </p:sp>
      <p:sp>
        <p:nvSpPr>
          <p:cNvPr id="25" name="arrow"/>
          <p:cNvSpPr/>
          <p:nvPr/>
        </p:nvSpPr>
        <p:spPr>
          <a:xfrm>
            <a:off x="10401300" y="2505456"/>
            <a:ext cx="0" cy="49377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6263640" y="2615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helm upgrade --install, image tag = git SHA</a:t>
            </a:r>
            <a:endParaRPr lang="en-US" sz="1200" dirty="0"/>
          </a:p>
        </p:txBody>
      </p:sp>
      <p:sp>
        <p:nvSpPr>
          <p:cNvPr id="27" name="node-Browser"/>
          <p:cNvSpPr/>
          <p:nvPr/>
        </p:nvSpPr>
        <p:spPr>
          <a:xfrm>
            <a:off x="548640" y="4114800"/>
            <a:ext cx="118872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8" name="Browser-dot"/>
          <p:cNvSpPr/>
          <p:nvPr/>
        </p:nvSpPr>
        <p:spPr>
          <a:xfrm>
            <a:off x="932688" y="422452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9" name="Browser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225" y="4317065"/>
            <a:ext cx="235549" cy="23554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48640" y="47000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Browser</a:t>
            </a:r>
            <a:endParaRPr lang="en-US" sz="1400" dirty="0"/>
          </a:p>
        </p:txBody>
      </p:sp>
      <p:sp>
        <p:nvSpPr>
          <p:cNvPr id="31" name="node-Ingress"/>
          <p:cNvSpPr/>
          <p:nvPr/>
        </p:nvSpPr>
        <p:spPr>
          <a:xfrm>
            <a:off x="2240280" y="411480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2" name="Ingress-dot"/>
          <p:cNvSpPr/>
          <p:nvPr/>
        </p:nvSpPr>
        <p:spPr>
          <a:xfrm>
            <a:off x="2368296" y="443026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3" name="Ingress-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0833" y="4522805"/>
            <a:ext cx="235549" cy="235549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898648" y="4187952"/>
            <a:ext cx="11704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Ingress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Traefik: / and /api</a:t>
            </a:r>
            <a:endParaRPr lang="en-US" sz="1400" dirty="0"/>
          </a:p>
        </p:txBody>
      </p:sp>
      <p:sp>
        <p:nvSpPr>
          <p:cNvPr id="35" name="node-Frontend ×2"/>
          <p:cNvSpPr/>
          <p:nvPr/>
        </p:nvSpPr>
        <p:spPr>
          <a:xfrm>
            <a:off x="470916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6" name="Frontend ×2-dot"/>
          <p:cNvSpPr/>
          <p:nvPr/>
        </p:nvSpPr>
        <p:spPr>
          <a:xfrm>
            <a:off x="4837176" y="381304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7" name="Frontend ×2-glyph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713" y="3905585"/>
            <a:ext cx="235549" cy="235549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367528" y="3639312"/>
            <a:ext cx="1444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Frontend ×2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React + Nginx, uid 101</a:t>
            </a:r>
            <a:endParaRPr lang="en-US" sz="1400" dirty="0"/>
          </a:p>
        </p:txBody>
      </p:sp>
      <p:sp>
        <p:nvSpPr>
          <p:cNvPr id="39" name="node-Backend ×2–6"/>
          <p:cNvSpPr/>
          <p:nvPr/>
        </p:nvSpPr>
        <p:spPr>
          <a:xfrm>
            <a:off x="4709160" y="507492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40" name="Backend ×2–6-dot"/>
          <p:cNvSpPr/>
          <p:nvPr/>
        </p:nvSpPr>
        <p:spPr>
          <a:xfrm>
            <a:off x="4837176" y="532180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41" name="Backend ×2–6-glyph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713" y="5414345"/>
            <a:ext cx="235549" cy="235549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367528" y="5148072"/>
            <a:ext cx="1444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 ×2–6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FastAPI, HPA at 60% CPU</a:t>
            </a:r>
            <a:endParaRPr lang="en-US" sz="1400" dirty="0"/>
          </a:p>
        </p:txBody>
      </p:sp>
      <p:sp>
        <p:nvSpPr>
          <p:cNvPr id="43" name="node-Prometheus"/>
          <p:cNvSpPr/>
          <p:nvPr/>
        </p:nvSpPr>
        <p:spPr>
          <a:xfrm>
            <a:off x="7452360" y="356616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44" name="Prometheus-dot"/>
          <p:cNvSpPr/>
          <p:nvPr/>
        </p:nvSpPr>
        <p:spPr>
          <a:xfrm>
            <a:off x="7580376" y="381304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45" name="Prometheus-glyph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2913" y="3905585"/>
            <a:ext cx="235549" cy="235549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110728" y="3639312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Prometheus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scrapes /metrics</a:t>
            </a:r>
            <a:endParaRPr lang="en-US" sz="1400" dirty="0"/>
          </a:p>
        </p:txBody>
      </p:sp>
      <p:sp>
        <p:nvSpPr>
          <p:cNvPr id="47" name="node-PostgreSQL"/>
          <p:cNvSpPr/>
          <p:nvPr/>
        </p:nvSpPr>
        <p:spPr>
          <a:xfrm>
            <a:off x="7452360" y="507492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48" name="PostgreSQL-dot"/>
          <p:cNvSpPr/>
          <p:nvPr/>
        </p:nvSpPr>
        <p:spPr>
          <a:xfrm>
            <a:off x="7580376" y="532180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49" name="PostgreSQL-glyph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2913" y="5414345"/>
            <a:ext cx="235549" cy="235549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8110728" y="5148072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StatefulSet + PVC</a:t>
            </a:r>
            <a:endParaRPr lang="en-US" sz="1400" dirty="0"/>
          </a:p>
        </p:txBody>
      </p:sp>
      <p:sp>
        <p:nvSpPr>
          <p:cNvPr id="51" name="node-Grafana"/>
          <p:cNvSpPr/>
          <p:nvPr/>
        </p:nvSpPr>
        <p:spPr>
          <a:xfrm>
            <a:off x="9646920" y="3566160"/>
            <a:ext cx="17830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2" name="Grafana-dot"/>
          <p:cNvSpPr/>
          <p:nvPr/>
        </p:nvSpPr>
        <p:spPr>
          <a:xfrm>
            <a:off x="9774936" y="381304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53" name="Grafana-glyph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7473" y="3905585"/>
            <a:ext cx="235549" cy="235549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10305288" y="3639312"/>
            <a:ext cx="1033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Grafana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16-panel dashboard</a:t>
            </a:r>
            <a:endParaRPr lang="en-US" sz="1400" dirty="0"/>
          </a:p>
        </p:txBody>
      </p:sp>
      <p:sp>
        <p:nvSpPr>
          <p:cNvPr id="55" name="node-Alerts"/>
          <p:cNvSpPr/>
          <p:nvPr/>
        </p:nvSpPr>
        <p:spPr>
          <a:xfrm>
            <a:off x="9646920" y="5074920"/>
            <a:ext cx="17830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6" name="Alerts-dot"/>
          <p:cNvSpPr/>
          <p:nvPr/>
        </p:nvSpPr>
        <p:spPr>
          <a:xfrm>
            <a:off x="9774936" y="5321808"/>
            <a:ext cx="420624" cy="420624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57" name="Alerts-glyph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7473" y="5414345"/>
            <a:ext cx="235549" cy="235549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10305288" y="5148072"/>
            <a:ext cx="1033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Alerts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4 alert rules</a:t>
            </a:r>
            <a:endParaRPr lang="en-US" sz="1400" dirty="0"/>
          </a:p>
        </p:txBody>
      </p:sp>
      <p:sp>
        <p:nvSpPr>
          <p:cNvPr id="59" name="arrow"/>
          <p:cNvSpPr/>
          <p:nvPr/>
        </p:nvSpPr>
        <p:spPr>
          <a:xfrm>
            <a:off x="1773936" y="4640580"/>
            <a:ext cx="42976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0" name="arrow"/>
          <p:cNvSpPr/>
          <p:nvPr/>
        </p:nvSpPr>
        <p:spPr>
          <a:xfrm flipV="1">
            <a:off x="4197096" y="4069080"/>
            <a:ext cx="475488" cy="3657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1" name="arrow"/>
          <p:cNvSpPr/>
          <p:nvPr/>
        </p:nvSpPr>
        <p:spPr>
          <a:xfrm>
            <a:off x="4197096" y="4846320"/>
            <a:ext cx="475488" cy="5029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2" name="arrow"/>
          <p:cNvSpPr/>
          <p:nvPr/>
        </p:nvSpPr>
        <p:spPr>
          <a:xfrm>
            <a:off x="5806440" y="4517136"/>
            <a:ext cx="0" cy="52120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63" name="Text 49"/>
          <p:cNvSpPr txBox="1"/>
          <p:nvPr/>
        </p:nvSpPr>
        <p:spPr>
          <a:xfrm>
            <a:off x="5897880" y="4636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/api proxy</a:t>
            </a:r>
            <a:endParaRPr lang="en-US" sz="1100" dirty="0"/>
          </a:p>
        </p:txBody>
      </p:sp>
      <p:sp>
        <p:nvSpPr>
          <p:cNvPr id="64" name="arrow"/>
          <p:cNvSpPr/>
          <p:nvPr/>
        </p:nvSpPr>
        <p:spPr>
          <a:xfrm>
            <a:off x="6940296" y="5532120"/>
            <a:ext cx="47548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5" name="arrow"/>
          <p:cNvSpPr/>
          <p:nvPr/>
        </p:nvSpPr>
        <p:spPr>
          <a:xfrm flipH="1">
            <a:off x="6940296" y="4517136"/>
            <a:ext cx="512064" cy="55778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6" name="arrow"/>
          <p:cNvSpPr/>
          <p:nvPr/>
        </p:nvSpPr>
        <p:spPr>
          <a:xfrm flipH="1">
            <a:off x="9317736" y="4023360"/>
            <a:ext cx="29260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7" name="arrow"/>
          <p:cNvSpPr/>
          <p:nvPr/>
        </p:nvSpPr>
        <p:spPr>
          <a:xfrm>
            <a:off x="9317736" y="4517136"/>
            <a:ext cx="329184" cy="52120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M1 ·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FastAPI backend with real domain rules</a:t>
            </a:r>
            <a:endParaRPr lang="en-US" sz="3600" dirty="0"/>
          </a:p>
        </p:txBody>
      </p:sp>
      <p:sp>
        <p:nvSpPr>
          <p:cNvPr id="4" name="swagger-frame"/>
          <p:cNvSpPr/>
          <p:nvPr/>
        </p:nvSpPr>
        <p:spPr>
          <a:xfrm>
            <a:off x="548640" y="1600200"/>
            <a:ext cx="5800599" cy="4572000"/>
          </a:xfrm>
          <a:prstGeom prst="roundRect">
            <a:avLst>
              <a:gd name="adj" fmla="val 179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swagger" descr="Swagger UI listing the StockPilot API end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800599" cy="4572000"/>
          </a:xfrm>
          <a:prstGeom prst="rect">
            <a:avLst/>
          </a:prstGeom>
        </p:spPr>
      </p:pic>
      <p:sp>
        <p:nvSpPr>
          <p:cNvPr id="6" name="stat-REST endpoints under /api"/>
          <p:cNvSpPr/>
          <p:nvPr/>
        </p:nvSpPr>
        <p:spPr>
          <a:xfrm>
            <a:off x="6675120" y="1600200"/>
            <a:ext cx="1502664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0" y="1719072"/>
            <a:ext cx="1136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11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267712"/>
            <a:ext cx="122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REST endpoints under /api</a:t>
            </a:r>
            <a:endParaRPr lang="en-US" sz="1200" dirty="0"/>
          </a:p>
        </p:txBody>
      </p:sp>
      <p:sp>
        <p:nvSpPr>
          <p:cNvPr id="9" name="stat-Alembic migrations"/>
          <p:cNvSpPr/>
          <p:nvPr/>
        </p:nvSpPr>
        <p:spPr>
          <a:xfrm>
            <a:off x="8406384" y="1600200"/>
            <a:ext cx="1502664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589264" y="1719072"/>
            <a:ext cx="1136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589264" y="2267712"/>
            <a:ext cx="122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Alembic migrations</a:t>
            </a:r>
            <a:endParaRPr lang="en-US" sz="1200" dirty="0"/>
          </a:p>
        </p:txBody>
      </p:sp>
      <p:sp>
        <p:nvSpPr>
          <p:cNvPr id="12" name="stat-returned on oversell"/>
          <p:cNvSpPr/>
          <p:nvPr/>
        </p:nvSpPr>
        <p:spPr>
          <a:xfrm>
            <a:off x="10137648" y="1600200"/>
            <a:ext cx="1502664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0320528" y="1719072"/>
            <a:ext cx="1136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409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10320528" y="2267712"/>
            <a:ext cx="122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returned on oversell</a:t>
            </a:r>
            <a:endParaRPr lang="en-US" sz="1200" dirty="0"/>
          </a:p>
        </p:txBody>
      </p:sp>
      <p:sp>
        <p:nvSpPr>
          <p:cNvPr id="15" name="rules"/>
          <p:cNvSpPr/>
          <p:nvPr/>
        </p:nvSpPr>
        <p:spPr>
          <a:xfrm>
            <a:off x="6675120" y="3017520"/>
            <a:ext cx="4965192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949440" y="320040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Rules enforced by the API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3639312"/>
            <a:ext cx="4416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Stock changes only through adjustments, each one logged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Overselling returns 409, with a row lock against races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Unique, normalised SKUs; bad input returns 422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/health checks the process, /ready checks the database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Migrations run once at start-up under an advisory lock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is derived: IN_STOCK, LOW_STOCK, OUT_OF_STOCK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M2 · TESTING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51 tests, isolated from real data</a:t>
            </a:r>
            <a:endParaRPr lang="en-US" sz="3600" dirty="0"/>
          </a:p>
        </p:txBody>
      </p:sp>
      <p:sp>
        <p:nvSpPr>
          <p:cNvPr id="4" name="stat-pytest tests"/>
          <p:cNvSpPr/>
          <p:nvPr/>
        </p:nvSpPr>
        <p:spPr>
          <a:xfrm>
            <a:off x="548640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pytest tests</a:t>
            </a:r>
            <a:endParaRPr lang="en-US" sz="1300" dirty="0"/>
          </a:p>
        </p:txBody>
      </p:sp>
      <p:sp>
        <p:nvSpPr>
          <p:cNvPr id="7" name="stat-line coverage"/>
          <p:cNvSpPr/>
          <p:nvPr/>
        </p:nvSpPr>
        <p:spPr>
          <a:xfrm>
            <a:off x="3337560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99%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line coverage</a:t>
            </a:r>
            <a:endParaRPr lang="en-US" sz="1300" dirty="0"/>
          </a:p>
        </p:txBody>
      </p:sp>
      <p:sp>
        <p:nvSpPr>
          <p:cNvPr id="10" name="stat-databases in CI: SQLite and PostgreSQL"/>
          <p:cNvSpPr/>
          <p:nvPr/>
        </p:nvSpPr>
        <p:spPr>
          <a:xfrm>
            <a:off x="548640" y="315468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databases in CI: SQLite and PostgreSQL</a:t>
            </a:r>
            <a:endParaRPr lang="en-US" sz="1300" dirty="0"/>
          </a:p>
        </p:txBody>
      </p:sp>
      <p:sp>
        <p:nvSpPr>
          <p:cNvPr id="13" name="stat-frontend unit tests"/>
          <p:cNvSpPr/>
          <p:nvPr/>
        </p:nvSpPr>
        <p:spPr>
          <a:xfrm>
            <a:off x="3337560" y="315468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6616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frontend unit tests</a:t>
            </a:r>
            <a:endParaRPr lang="en-US" sz="1300" dirty="0"/>
          </a:p>
        </p:txBody>
      </p:sp>
      <p:sp>
        <p:nvSpPr>
          <p:cNvPr id="16" name="isolation"/>
          <p:cNvSpPr/>
          <p:nvPr/>
        </p:nvSpPr>
        <p:spPr>
          <a:xfrm>
            <a:off x="548640" y="4709160"/>
            <a:ext cx="53492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8463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How the tests stay isolated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conftest.py sets DATABASE_URL before the app is imported and rebuilds the schema for every test. CI repeats the suite on a throw-away PostgreSQL container.</a:t>
            </a:r>
            <a:endParaRPr lang="en-US" sz="1400" dirty="0"/>
          </a:p>
        </p:txBody>
      </p:sp>
      <p:sp>
        <p:nvSpPr>
          <p:cNvPr id="18" name="pytest-cov-frame"/>
          <p:cNvSpPr/>
          <p:nvPr/>
        </p:nvSpPr>
        <p:spPr>
          <a:xfrm>
            <a:off x="6263640" y="1600200"/>
            <a:ext cx="5376672" cy="3198000"/>
          </a:xfrm>
          <a:prstGeom prst="roundRect">
            <a:avLst>
              <a:gd name="adj" fmla="val 23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9" name="pytest-cov" descr="pytest coverage summary: 406 statements, 99% coverage, 51 passed in 6.17 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00200"/>
            <a:ext cx="5376672" cy="31980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263640" y="5026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Test modules</a:t>
            </a:r>
            <a:endParaRPr lang="en-US" sz="1200" dirty="0"/>
          </a:p>
        </p:txBody>
      </p:sp>
      <p:sp>
        <p:nvSpPr>
          <p:cNvPr id="21" name="pill-test_products"/>
          <p:cNvSpPr/>
          <p:nvPr/>
        </p:nvSpPr>
        <p:spPr>
          <a:xfrm>
            <a:off x="6263640" y="5365128"/>
            <a:ext cx="1499616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263640" y="536512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test_products</a:t>
            </a:r>
            <a:endParaRPr lang="en-US" sz="1200" dirty="0"/>
          </a:p>
        </p:txBody>
      </p:sp>
      <p:sp>
        <p:nvSpPr>
          <p:cNvPr id="23" name="pill-test_stock"/>
          <p:cNvSpPr/>
          <p:nvPr/>
        </p:nvSpPr>
        <p:spPr>
          <a:xfrm>
            <a:off x="7900416" y="5365128"/>
            <a:ext cx="1225296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900416" y="536512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test_stock</a:t>
            </a:r>
            <a:endParaRPr lang="en-US" sz="1200" dirty="0"/>
          </a:p>
        </p:txBody>
      </p:sp>
      <p:sp>
        <p:nvSpPr>
          <p:cNvPr id="25" name="pill-test_stats"/>
          <p:cNvSpPr/>
          <p:nvPr/>
        </p:nvSpPr>
        <p:spPr>
          <a:xfrm>
            <a:off x="9262872" y="5365128"/>
            <a:ext cx="1225296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262872" y="536512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test_stats</a:t>
            </a:r>
            <a:endParaRPr lang="en-US" sz="1200" dirty="0"/>
          </a:p>
        </p:txBody>
      </p:sp>
      <p:sp>
        <p:nvSpPr>
          <p:cNvPr id="27" name="pill-test_system"/>
          <p:cNvSpPr/>
          <p:nvPr/>
        </p:nvSpPr>
        <p:spPr>
          <a:xfrm>
            <a:off x="6263640" y="5804040"/>
            <a:ext cx="1316736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263640" y="580404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test_system</a:t>
            </a:r>
            <a:endParaRPr lang="en-US" sz="1200" dirty="0"/>
          </a:p>
        </p:txBody>
      </p:sp>
      <p:sp>
        <p:nvSpPr>
          <p:cNvPr id="29" name="pill-test_migrations"/>
          <p:cNvSpPr/>
          <p:nvPr/>
        </p:nvSpPr>
        <p:spPr>
          <a:xfrm>
            <a:off x="7717536" y="5804040"/>
            <a:ext cx="1682496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17536" y="580404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test_migrations</a:t>
            </a:r>
            <a:endParaRPr lang="en-US" sz="1200" dirty="0"/>
          </a:p>
        </p:txBody>
      </p:sp>
      <p:sp>
        <p:nvSpPr>
          <p:cNvPr id="31" name="pill-test_seed"/>
          <p:cNvSpPr/>
          <p:nvPr/>
        </p:nvSpPr>
        <p:spPr>
          <a:xfrm>
            <a:off x="9537192" y="5804040"/>
            <a:ext cx="1133856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537192" y="58040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test_seed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M4 · DOCKER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Multi-stage, non-root images</a:t>
            </a:r>
            <a:endParaRPr lang="en-US" sz="3600" dirty="0"/>
          </a:p>
        </p:txBody>
      </p:sp>
      <p:sp>
        <p:nvSpPr>
          <p:cNvPr id="4" name="img-stockpilot-backend"/>
          <p:cNvSpPr/>
          <p:nvPr/>
        </p:nvSpPr>
        <p:spPr>
          <a:xfrm>
            <a:off x="548640" y="1600200"/>
            <a:ext cx="53035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tockpilot-backend-dot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stockpilot-backend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912010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013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stockpilot-backend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500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python:3.12-slim builder installs pinned dependencies into a venv; the runtime copies only the venv and code</a:t>
            </a:r>
            <a:endParaRPr lang="en-US" sz="1300" dirty="0"/>
          </a:p>
        </p:txBody>
      </p:sp>
      <p:sp>
        <p:nvSpPr>
          <p:cNvPr id="9" name="pill-uid 10001"/>
          <p:cNvSpPr/>
          <p:nvPr/>
        </p:nvSpPr>
        <p:spPr>
          <a:xfrm>
            <a:off x="777240" y="2816352"/>
            <a:ext cx="1010412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81635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uid 10001</a:t>
            </a:r>
            <a:endParaRPr lang="en-US" sz="1100" dirty="0"/>
          </a:p>
        </p:txBody>
      </p:sp>
      <p:sp>
        <p:nvSpPr>
          <p:cNvPr id="11" name="pill-306 MB"/>
          <p:cNvSpPr/>
          <p:nvPr/>
        </p:nvSpPr>
        <p:spPr>
          <a:xfrm>
            <a:off x="1897380" y="2816352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97380" y="28163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306 MB</a:t>
            </a:r>
            <a:endParaRPr lang="en-US" sz="1100" dirty="0"/>
          </a:p>
        </p:txBody>
      </p:sp>
      <p:sp>
        <p:nvSpPr>
          <p:cNvPr id="13" name="pill-HEALTHCHECK"/>
          <p:cNvSpPr/>
          <p:nvPr/>
        </p:nvSpPr>
        <p:spPr>
          <a:xfrm>
            <a:off x="2784348" y="2816352"/>
            <a:ext cx="116586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84348" y="2816352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HEALTHCHECK</a:t>
            </a:r>
            <a:endParaRPr lang="en-US" sz="1100" dirty="0"/>
          </a:p>
        </p:txBody>
      </p:sp>
      <p:sp>
        <p:nvSpPr>
          <p:cNvPr id="15" name="img-stockpilot-frontend"/>
          <p:cNvSpPr/>
          <p:nvPr/>
        </p:nvSpPr>
        <p:spPr>
          <a:xfrm>
            <a:off x="548640" y="3383280"/>
            <a:ext cx="53035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tockpilot-frontend-dot"/>
          <p:cNvSpPr/>
          <p:nvPr/>
        </p:nvSpPr>
        <p:spPr>
          <a:xfrm>
            <a:off x="777240" y="3584448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7" name="stockpilot-frontend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3695090"/>
            <a:ext cx="281635" cy="28163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17320" y="35844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stockpilot-frontend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1330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node:24-alpine runs npm ci and the Vite build; nginx-unprivileged serves dist/ with no Node in the image</a:t>
            </a:r>
            <a:endParaRPr lang="en-US" sz="1300" dirty="0"/>
          </a:p>
        </p:txBody>
      </p:sp>
      <p:sp>
        <p:nvSpPr>
          <p:cNvPr id="20" name="pill-uid 101"/>
          <p:cNvSpPr/>
          <p:nvPr/>
        </p:nvSpPr>
        <p:spPr>
          <a:xfrm>
            <a:off x="777240" y="4599432"/>
            <a:ext cx="854964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7240" y="4599432"/>
            <a:ext cx="85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uid 101</a:t>
            </a:r>
            <a:endParaRPr lang="en-US" sz="1100" dirty="0"/>
          </a:p>
        </p:txBody>
      </p:sp>
      <p:sp>
        <p:nvSpPr>
          <p:cNvPr id="22" name="pill-93.2 MB"/>
          <p:cNvSpPr/>
          <p:nvPr/>
        </p:nvSpPr>
        <p:spPr>
          <a:xfrm>
            <a:off x="1741932" y="4599432"/>
            <a:ext cx="854964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741932" y="4599432"/>
            <a:ext cx="85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93.2 MB</a:t>
            </a:r>
            <a:endParaRPr lang="en-US" sz="1100" dirty="0"/>
          </a:p>
        </p:txBody>
      </p:sp>
      <p:sp>
        <p:nvSpPr>
          <p:cNvPr id="24" name="pill-port 8080"/>
          <p:cNvSpPr/>
          <p:nvPr/>
        </p:nvSpPr>
        <p:spPr>
          <a:xfrm>
            <a:off x="2706624" y="4599432"/>
            <a:ext cx="1010412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2706624" y="459943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port 8080</a:t>
            </a:r>
            <a:endParaRPr lang="en-US" sz="1100" dirty="0"/>
          </a:p>
        </p:txBody>
      </p:sp>
      <p:sp>
        <p:nvSpPr>
          <p:cNvPr id="26" name="nonroot-frame"/>
          <p:cNvSpPr/>
          <p:nvPr/>
        </p:nvSpPr>
        <p:spPr>
          <a:xfrm>
            <a:off x="6172200" y="1600200"/>
            <a:ext cx="5468112" cy="3241898"/>
          </a:xfrm>
          <a:prstGeom prst="roundRect">
            <a:avLst>
              <a:gd name="adj" fmla="val 2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7" name="nonroot" descr="docker compose ps showing three healthy services, id output uid 10001 and uid 101, image siz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468112" cy="324189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48640" y="5138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Start order enforced by healthchecks: docker compose up --build</a:t>
            </a:r>
            <a:endParaRPr lang="en-US" sz="1200" dirty="0"/>
          </a:p>
        </p:txBody>
      </p:sp>
      <p:sp>
        <p:nvSpPr>
          <p:cNvPr id="29" name="node-PostgreSQL 17"/>
          <p:cNvSpPr/>
          <p:nvPr/>
        </p:nvSpPr>
        <p:spPr>
          <a:xfrm>
            <a:off x="548640" y="5468112"/>
            <a:ext cx="34290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PostgreSQL 17-dot"/>
          <p:cNvSpPr/>
          <p:nvPr/>
        </p:nvSpPr>
        <p:spPr>
          <a:xfrm>
            <a:off x="676656" y="5632704"/>
            <a:ext cx="384048" cy="38404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1" name="PostgreSQL 17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47" y="5717195"/>
            <a:ext cx="215067" cy="21506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170432" y="5541264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 17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healthy when pg_isready answers</a:t>
            </a:r>
            <a:endParaRPr lang="en-US" sz="1400" dirty="0"/>
          </a:p>
        </p:txBody>
      </p:sp>
      <p:sp>
        <p:nvSpPr>
          <p:cNvPr id="33" name="arrow"/>
          <p:cNvSpPr/>
          <p:nvPr/>
        </p:nvSpPr>
        <p:spPr>
          <a:xfrm>
            <a:off x="4014216" y="5824728"/>
            <a:ext cx="32918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4" name="node-Backend"/>
          <p:cNvSpPr/>
          <p:nvPr/>
        </p:nvSpPr>
        <p:spPr>
          <a:xfrm>
            <a:off x="4379976" y="5468112"/>
            <a:ext cx="34290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5" name="Backend-dot"/>
          <p:cNvSpPr/>
          <p:nvPr/>
        </p:nvSpPr>
        <p:spPr>
          <a:xfrm>
            <a:off x="4507992" y="5632704"/>
            <a:ext cx="384048" cy="38404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6" name="Backend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483" y="5717195"/>
            <a:ext cx="215067" cy="215067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001768" y="5541264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healthy after migrations (/health)</a:t>
            </a:r>
            <a:endParaRPr lang="en-US" sz="1400" dirty="0"/>
          </a:p>
        </p:txBody>
      </p:sp>
      <p:sp>
        <p:nvSpPr>
          <p:cNvPr id="38" name="arrow"/>
          <p:cNvSpPr/>
          <p:nvPr/>
        </p:nvSpPr>
        <p:spPr>
          <a:xfrm>
            <a:off x="7845552" y="5824728"/>
            <a:ext cx="32918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9" name="node-Frontend"/>
          <p:cNvSpPr/>
          <p:nvPr/>
        </p:nvSpPr>
        <p:spPr>
          <a:xfrm>
            <a:off x="8211312" y="5468112"/>
            <a:ext cx="34290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40" name="Frontend-dot"/>
          <p:cNvSpPr/>
          <p:nvPr/>
        </p:nvSpPr>
        <p:spPr>
          <a:xfrm>
            <a:off x="8339328" y="5632704"/>
            <a:ext cx="384048" cy="38404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41" name="Frontend-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819" y="5717195"/>
            <a:ext cx="215067" cy="21506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833104" y="5541264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Frontend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Nginx at localhost:3000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M5 · CI/CD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push is tested, scanned and published</a:t>
            </a:r>
            <a:endParaRPr lang="en-US" sz="3600" dirty="0"/>
          </a:p>
        </p:txBody>
      </p:sp>
      <p:sp>
        <p:nvSpPr>
          <p:cNvPr id="4" name="job-backend-test"/>
          <p:cNvSpPr/>
          <p:nvPr/>
        </p:nvSpPr>
        <p:spPr>
          <a:xfrm>
            <a:off x="548640" y="1600200"/>
            <a:ext cx="274320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550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backend-test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ruff · pytest ×2 DBs · alembic check</a:t>
            </a:r>
            <a:endParaRPr lang="en-US" sz="1400" dirty="0"/>
          </a:p>
        </p:txBody>
      </p:sp>
      <p:sp>
        <p:nvSpPr>
          <p:cNvPr id="6" name="job-frontend-build"/>
          <p:cNvSpPr/>
          <p:nvPr/>
        </p:nvSpPr>
        <p:spPr>
          <a:xfrm>
            <a:off x="548640" y="2286000"/>
            <a:ext cx="274320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3408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npm ci · npm test · vite build</a:t>
            </a:r>
            <a:endParaRPr lang="en-US" sz="1400" dirty="0"/>
          </a:p>
        </p:txBody>
      </p:sp>
      <p:sp>
        <p:nvSpPr>
          <p:cNvPr id="8" name="job-iac-validate"/>
          <p:cNvSpPr/>
          <p:nvPr/>
        </p:nvSpPr>
        <p:spPr>
          <a:xfrm>
            <a:off x="548640" y="2971800"/>
            <a:ext cx="274320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30266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iac-validate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terraform test · helm lint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328416" y="2583180"/>
            <a:ext cx="33832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job-build"/>
          <p:cNvSpPr/>
          <p:nvPr/>
        </p:nvSpPr>
        <p:spPr>
          <a:xfrm>
            <a:off x="3703320" y="1600200"/>
            <a:ext cx="406908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86200" y="1719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build-scan-push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matrix: backend, frontend</a:t>
            </a:r>
            <a:endParaRPr lang="en-US" sz="1400" dirty="0"/>
          </a:p>
        </p:txBody>
      </p:sp>
      <p:sp>
        <p:nvSpPr>
          <p:cNvPr id="13" name="step-docker build"/>
          <p:cNvSpPr/>
          <p:nvPr/>
        </p:nvSpPr>
        <p:spPr>
          <a:xfrm>
            <a:off x="3886200" y="2148840"/>
            <a:ext cx="843534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86200" y="2148840"/>
            <a:ext cx="8435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docker build</a:t>
            </a:r>
            <a:endParaRPr lang="en-US" sz="1200" dirty="0"/>
          </a:p>
        </p:txBody>
      </p:sp>
      <p:sp>
        <p:nvSpPr>
          <p:cNvPr id="15" name="step-Trivy report"/>
          <p:cNvSpPr/>
          <p:nvPr/>
        </p:nvSpPr>
        <p:spPr>
          <a:xfrm>
            <a:off x="4839462" y="2148840"/>
            <a:ext cx="843534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39462" y="2148840"/>
            <a:ext cx="8435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Trivy report</a:t>
            </a:r>
            <a:endParaRPr lang="en-US" sz="1200" dirty="0"/>
          </a:p>
        </p:txBody>
      </p:sp>
      <p:sp>
        <p:nvSpPr>
          <p:cNvPr id="17" name="step-Trivy gate"/>
          <p:cNvSpPr/>
          <p:nvPr/>
        </p:nvSpPr>
        <p:spPr>
          <a:xfrm>
            <a:off x="5792724" y="2148840"/>
            <a:ext cx="843534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92724" y="2148840"/>
            <a:ext cx="8435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Trivy gate</a:t>
            </a:r>
            <a:endParaRPr lang="en-US" sz="1200" dirty="0"/>
          </a:p>
        </p:txBody>
      </p:sp>
      <p:sp>
        <p:nvSpPr>
          <p:cNvPr id="19" name="step-push :&lt;sha&gt;"/>
          <p:cNvSpPr/>
          <p:nvPr/>
        </p:nvSpPr>
        <p:spPr>
          <a:xfrm>
            <a:off x="6745986" y="2148840"/>
            <a:ext cx="843534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5986" y="2148840"/>
            <a:ext cx="8435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push :&lt;sha&gt;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Stops on any fixable HIGH or CRITICAL CVE, before the push</a:t>
            </a:r>
            <a:endParaRPr lang="en-US" sz="1200" dirty="0"/>
          </a:p>
        </p:txBody>
      </p:sp>
      <p:sp>
        <p:nvSpPr>
          <p:cNvPr id="22" name="arrow"/>
          <p:cNvSpPr/>
          <p:nvPr/>
        </p:nvSpPr>
        <p:spPr>
          <a:xfrm>
            <a:off x="7808976" y="2583180"/>
            <a:ext cx="33832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job-deploy"/>
          <p:cNvSpPr/>
          <p:nvPr/>
        </p:nvSpPr>
        <p:spPr>
          <a:xfrm>
            <a:off x="8183880" y="1600200"/>
            <a:ext cx="3456432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66760" y="1719072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  main only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helm upgrade --install with tag = SHA, --wait, helm test. AWS access via GitHub OIDC, no stored keys.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Skipped: this AWS account blocks IAM OIDC providers, so CI-built images are promoted with Helm.</a:t>
            </a:r>
            <a:endParaRPr lang="en-US" sz="1400" dirty="0"/>
          </a:p>
        </p:txBody>
      </p:sp>
      <p:sp>
        <p:nvSpPr>
          <p:cNvPr id="25" name="ci-run-frame"/>
          <p:cNvSpPr/>
          <p:nvPr/>
        </p:nvSpPr>
        <p:spPr>
          <a:xfrm>
            <a:off x="548640" y="3840480"/>
            <a:ext cx="5995851" cy="233172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6" name="ci-run" descr="GitHub Actions run 6: all jobs green in 2 minutes 21 seconds, deploy skip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5995851" cy="2331720"/>
          </a:xfrm>
          <a:prstGeom prst="rect">
            <a:avLst/>
          </a:prstGeom>
        </p:spPr>
      </p:pic>
      <p:sp>
        <p:nvSpPr>
          <p:cNvPr id="27" name="ci-facts"/>
          <p:cNvSpPr/>
          <p:nvPr/>
        </p:nvSpPr>
        <p:spPr>
          <a:xfrm>
            <a:off x="6812280" y="3840480"/>
            <a:ext cx="482803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040880" y="402336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on push and pull request to main, or manually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failing test stops the run before any image is built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Images tagged with the full commit SHA, never latest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Actions pinned to commit SHAs; least-privilege token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repo with conventional commits (feat, fix, test, ci)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M6 · SECURITY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Trivy gate: found, explained, fixed</a:t>
            </a:r>
            <a:endParaRPr lang="en-US" sz="3600" dirty="0"/>
          </a:p>
        </p:txBody>
      </p:sp>
      <p:sp>
        <p:nvSpPr>
          <p:cNvPr id="4" name="pill-FIRST RUN"/>
          <p:cNvSpPr/>
          <p:nvPr/>
        </p:nvSpPr>
        <p:spPr>
          <a:xfrm>
            <a:off x="548640" y="1627632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FIRST RUN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27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13 MEDIUM/LOW findings: gate passed, fixed anyway</a:t>
            </a:r>
            <a:endParaRPr lang="en-US" sz="1300" dirty="0"/>
          </a:p>
        </p:txBody>
      </p:sp>
      <p:sp>
        <p:nvSpPr>
          <p:cNvPr id="7" name="cves-frame"/>
          <p:cNvSpPr/>
          <p:nvPr/>
        </p:nvSpPr>
        <p:spPr>
          <a:xfrm>
            <a:off x="548640" y="2057400"/>
            <a:ext cx="5394960" cy="2738980"/>
          </a:xfrm>
          <a:prstGeom prst="roundRect">
            <a:avLst>
              <a:gd name="adj" fmla="val 27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cves" descr="Trivy table from the first CI run: six pip CVEs including CVE-2025-886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5394960" cy="2738980"/>
          </a:xfrm>
          <a:prstGeom prst="rect">
            <a:avLst/>
          </a:prstGeom>
        </p:spPr>
      </p:pic>
      <p:sp>
        <p:nvSpPr>
          <p:cNvPr id="9" name="pill-AFTER"/>
          <p:cNvSpPr/>
          <p:nvPr/>
        </p:nvSpPr>
        <p:spPr>
          <a:xfrm>
            <a:off x="6245352" y="1627632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45352" y="1627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AFTER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96912" y="16276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 fixable vulnerabilities at any severity</a:t>
            </a:r>
            <a:endParaRPr lang="en-US" sz="1300" dirty="0"/>
          </a:p>
        </p:txBody>
      </p:sp>
      <p:sp>
        <p:nvSpPr>
          <p:cNvPr id="12" name="trivy-after-frame"/>
          <p:cNvSpPr/>
          <p:nvPr/>
        </p:nvSpPr>
        <p:spPr>
          <a:xfrm>
            <a:off x="6245352" y="2057400"/>
            <a:ext cx="5394960" cy="2529242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3" name="trivy-after" descr="Trivy rescan after the fix: both images report 0 vulnerabilities, exit code 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057400"/>
            <a:ext cx="5394960" cy="2529242"/>
          </a:xfrm>
          <a:prstGeom prst="rect">
            <a:avLst/>
          </a:prstGeom>
        </p:spPr>
      </p:pic>
      <p:sp>
        <p:nvSpPr>
          <p:cNvPr id="14" name="cve-0"/>
          <p:cNvSpPr/>
          <p:nvPr/>
        </p:nvSpPr>
        <p:spPr>
          <a:xfrm>
            <a:off x="548640" y="4983480"/>
            <a:ext cx="3511296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cve0-dot"/>
          <p:cNvSpPr/>
          <p:nvPr/>
        </p:nvSpPr>
        <p:spPr>
          <a:xfrm>
            <a:off x="749808" y="5184648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6" name="cve0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28523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53312" y="510235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CVE-2025-8869 (pip)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pip removed from the backend runtime image</a:t>
            </a:r>
            <a:endParaRPr lang="en-US" sz="1400" dirty="0"/>
          </a:p>
        </p:txBody>
      </p:sp>
      <p:sp>
        <p:nvSpPr>
          <p:cNvPr id="18" name="cve-1"/>
          <p:cNvSpPr/>
          <p:nvPr/>
        </p:nvSpPr>
        <p:spPr>
          <a:xfrm>
            <a:off x="4338828" y="4983480"/>
            <a:ext cx="3511296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cve1-dot"/>
          <p:cNvSpPr/>
          <p:nvPr/>
        </p:nvSpPr>
        <p:spPr>
          <a:xfrm>
            <a:off x="4539996" y="5184648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0" name="cve1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528523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43500" y="510235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CVE-2026-85091 (zlib)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apk upgrade in the frontend runtime stage</a:t>
            </a:r>
            <a:endParaRPr lang="en-US" sz="1400" dirty="0"/>
          </a:p>
        </p:txBody>
      </p:sp>
      <p:sp>
        <p:nvSpPr>
          <p:cNvPr id="22" name="cve-2"/>
          <p:cNvSpPr/>
          <p:nvPr/>
        </p:nvSpPr>
        <p:spPr>
          <a:xfrm>
            <a:off x="8129016" y="4983480"/>
            <a:ext cx="3511296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cve2-dot"/>
          <p:cNvSpPr/>
          <p:nvPr/>
        </p:nvSpPr>
        <p:spPr>
          <a:xfrm>
            <a:off x="8330184" y="5184648"/>
            <a:ext cx="457200" cy="457200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24" name="cve2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528523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933688" y="510235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Gate on both images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HIGH,CRITICAL · fixable only · exit code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M7 · TERRAFORM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AWS VPC and EKS, built from code</a:t>
            </a:r>
            <a:endParaRPr lang="en-US" sz="3600" dirty="0"/>
          </a:p>
        </p:txBody>
      </p:sp>
      <p:sp>
        <p:nvSpPr>
          <p:cNvPr id="4" name="vpc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3200"/>
            </a:avLst>
          </a:prstGeom>
          <a:solidFill>
            <a:schemeClr val="accent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VPC stockpilot-vpc · 10.20.0.0/16 · ap-southeast-2</a:t>
            </a:r>
            <a:endParaRPr lang="en-US" sz="1300" dirty="0"/>
          </a:p>
        </p:txBody>
      </p:sp>
      <p:sp>
        <p:nvSpPr>
          <p:cNvPr id="6" name="igw"/>
          <p:cNvSpPr/>
          <p:nvPr/>
        </p:nvSpPr>
        <p:spPr>
          <a:xfrm>
            <a:off x="2240280" y="2084832"/>
            <a:ext cx="2103120" cy="384048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240280" y="20848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Internet gateway</a:t>
            </a:r>
            <a:endParaRPr lang="en-US" sz="1200" dirty="0"/>
          </a:p>
        </p:txBody>
      </p:sp>
      <p:sp>
        <p:nvSpPr>
          <p:cNvPr id="8" name="az-ap-southeast-2a"/>
          <p:cNvSpPr/>
          <p:nvPr/>
        </p:nvSpPr>
        <p:spPr>
          <a:xfrm>
            <a:off x="777240" y="2651760"/>
            <a:ext cx="2377440" cy="3337560"/>
          </a:xfrm>
          <a:prstGeom prst="roundRect">
            <a:avLst>
              <a:gd name="adj" fmla="val 4615"/>
            </a:avLst>
          </a:prstGeom>
          <a:solidFill>
            <a:schemeClr val="bg1">
              <a:alpha val="6000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14400" y="2724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ap-southeast-2a</a:t>
            </a:r>
            <a:endParaRPr lang="en-US" sz="1200" dirty="0"/>
          </a:p>
        </p:txBody>
      </p:sp>
      <p:sp>
        <p:nvSpPr>
          <p:cNvPr id="10" name="pub-ap-southeast-2a"/>
          <p:cNvSpPr/>
          <p:nvPr/>
        </p:nvSpPr>
        <p:spPr>
          <a:xfrm>
            <a:off x="914400" y="3035808"/>
            <a:ext cx="2103120" cy="1188720"/>
          </a:xfrm>
          <a:prstGeom prst="roundRect">
            <a:avLst>
              <a:gd name="adj" fmla="val 7692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Public subnet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10.20.48.0/24 → IGW</a:t>
            </a:r>
            <a:endParaRPr lang="en-US" sz="1400" dirty="0"/>
          </a:p>
        </p:txBody>
      </p:sp>
      <p:sp>
        <p:nvSpPr>
          <p:cNvPr id="12" name="pill-NAT gateway"/>
          <p:cNvSpPr/>
          <p:nvPr/>
        </p:nvSpPr>
        <p:spPr>
          <a:xfrm>
            <a:off x="1051560" y="3730752"/>
            <a:ext cx="182880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NAT gateway</a:t>
            </a:r>
            <a:endParaRPr lang="en-US" sz="1100" dirty="0"/>
          </a:p>
        </p:txBody>
      </p:sp>
      <p:sp>
        <p:nvSpPr>
          <p:cNvPr id="14" name="priv-ap-southeast-2a"/>
          <p:cNvSpPr/>
          <p:nvPr/>
        </p:nvSpPr>
        <p:spPr>
          <a:xfrm>
            <a:off x="914400" y="4370832"/>
            <a:ext cx="2103120" cy="1481328"/>
          </a:xfrm>
          <a:prstGeom prst="roundRect">
            <a:avLst>
              <a:gd name="adj" fmla="val 6173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4439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Private subnet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10.20.0.0/20 → NAT</a:t>
            </a:r>
            <a:endParaRPr lang="en-US" sz="1400" dirty="0"/>
          </a:p>
        </p:txBody>
      </p:sp>
      <p:sp>
        <p:nvSpPr>
          <p:cNvPr id="16" name="pill-EKS worker node"/>
          <p:cNvSpPr/>
          <p:nvPr/>
        </p:nvSpPr>
        <p:spPr>
          <a:xfrm>
            <a:off x="1051560" y="5074920"/>
            <a:ext cx="182880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5074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EKS worker node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458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m7i-flex.large · AL2023</a:t>
            </a:r>
            <a:endParaRPr lang="en-US" sz="1100" dirty="0"/>
          </a:p>
        </p:txBody>
      </p:sp>
      <p:sp>
        <p:nvSpPr>
          <p:cNvPr id="19" name="az-ap-southeast-2b"/>
          <p:cNvSpPr/>
          <p:nvPr/>
        </p:nvSpPr>
        <p:spPr>
          <a:xfrm>
            <a:off x="3429000" y="2651760"/>
            <a:ext cx="2377440" cy="3337560"/>
          </a:xfrm>
          <a:prstGeom prst="roundRect">
            <a:avLst>
              <a:gd name="adj" fmla="val 4615"/>
            </a:avLst>
          </a:prstGeom>
          <a:solidFill>
            <a:schemeClr val="bg1">
              <a:alpha val="6000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3566160" y="2724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ap-southeast-2b</a:t>
            </a:r>
            <a:endParaRPr lang="en-US" sz="1200" dirty="0"/>
          </a:p>
        </p:txBody>
      </p:sp>
      <p:sp>
        <p:nvSpPr>
          <p:cNvPr id="21" name="pub-ap-southeast-2b"/>
          <p:cNvSpPr/>
          <p:nvPr/>
        </p:nvSpPr>
        <p:spPr>
          <a:xfrm>
            <a:off x="3566160" y="3035808"/>
            <a:ext cx="2103120" cy="1188720"/>
          </a:xfrm>
          <a:prstGeom prst="roundRect">
            <a:avLst>
              <a:gd name="adj" fmla="val 7692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0332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Public subnet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10.20.49.0/24 → IGW</a:t>
            </a:r>
            <a:endParaRPr lang="en-US" sz="1400" dirty="0"/>
          </a:p>
        </p:txBody>
      </p:sp>
      <p:sp>
        <p:nvSpPr>
          <p:cNvPr id="23" name="pill-NLB (Traefik)"/>
          <p:cNvSpPr/>
          <p:nvPr/>
        </p:nvSpPr>
        <p:spPr>
          <a:xfrm>
            <a:off x="3703320" y="3730752"/>
            <a:ext cx="182880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03320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NLB (Traefik)</a:t>
            </a:r>
            <a:endParaRPr lang="en-US" sz="1100" dirty="0"/>
          </a:p>
        </p:txBody>
      </p:sp>
      <p:sp>
        <p:nvSpPr>
          <p:cNvPr id="25" name="priv-ap-southeast-2b"/>
          <p:cNvSpPr/>
          <p:nvPr/>
        </p:nvSpPr>
        <p:spPr>
          <a:xfrm>
            <a:off x="3566160" y="4370832"/>
            <a:ext cx="2103120" cy="1481328"/>
          </a:xfrm>
          <a:prstGeom prst="roundRect">
            <a:avLst>
              <a:gd name="adj" fmla="val 6173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03320" y="44439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Private subnet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10.20.16.0/20 → NAT</a:t>
            </a:r>
            <a:endParaRPr lang="en-US" sz="1400" dirty="0"/>
          </a:p>
        </p:txBody>
      </p:sp>
      <p:sp>
        <p:nvSpPr>
          <p:cNvPr id="27" name="pill-EKS worker node"/>
          <p:cNvSpPr/>
          <p:nvPr/>
        </p:nvSpPr>
        <p:spPr>
          <a:xfrm>
            <a:off x="3703320" y="5074920"/>
            <a:ext cx="182880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03320" y="5074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EKS worker node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703320" y="5458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m7i-flex.large · AL2023</a:t>
            </a:r>
            <a:endParaRPr lang="en-US" sz="1100" dirty="0"/>
          </a:p>
        </p:txBody>
      </p:sp>
      <p:sp>
        <p:nvSpPr>
          <p:cNvPr id="30" name="eks-console-frame"/>
          <p:cNvSpPr/>
          <p:nvPr/>
        </p:nvSpPr>
        <p:spPr>
          <a:xfrm>
            <a:off x="6355080" y="1600200"/>
            <a:ext cx="5285232" cy="2036369"/>
          </a:xfrm>
          <a:prstGeom prst="roundRect">
            <a:avLst>
              <a:gd name="adj" fmla="val 36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31" name="eks-console" descr="AWS console: EKS cluster stockpilot-eks, status Active, Kubernetes 1.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00200"/>
            <a:ext cx="5285232" cy="2036369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6355080" y="3700577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EKS console: stockpilot-eks Active, Kubernetes 1.36</a:t>
            </a:r>
            <a:endParaRPr lang="en-US" sz="1100" dirty="0"/>
          </a:p>
        </p:txBody>
      </p:sp>
      <p:sp>
        <p:nvSpPr>
          <p:cNvPr id="33" name="subnets-frame"/>
          <p:cNvSpPr/>
          <p:nvPr/>
        </p:nvSpPr>
        <p:spPr>
          <a:xfrm>
            <a:off x="6355080" y="4093769"/>
            <a:ext cx="5285232" cy="1238092"/>
          </a:xfrm>
          <a:prstGeom prst="roundRect">
            <a:avLst>
              <a:gd name="adj" fmla="val 603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34" name="subnets" descr="AWS console: the four stockpilot-vpc subnets, all Avail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093769"/>
            <a:ext cx="5285232" cy="1238092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355080" y="5395869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VPC console: 2 public + 2 private subnets across two AZs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355080" y="5789061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Managed node group 2 × m7i-flex.large · add-ons: VPC CNI, CoreDNS, kube-proxy, Pod Identity agent, EBS CSI driver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M7 · TERRAFORM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Validate, plan, apply, destroy on real AWS</a:t>
            </a:r>
            <a:endParaRPr lang="en-US" sz="3600" dirty="0"/>
          </a:p>
        </p:txBody>
      </p:sp>
      <p:sp>
        <p:nvSpPr>
          <p:cNvPr id="4" name="tf-Validate"/>
          <p:cNvSpPr/>
          <p:nvPr/>
        </p:nvSpPr>
        <p:spPr>
          <a:xfrm>
            <a:off x="548640" y="160020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tep-1"/>
          <p:cNvSpPr/>
          <p:nvPr/>
        </p:nvSpPr>
        <p:spPr>
          <a:xfrm>
            <a:off x="731520" y="17556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556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Validate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fmt, init, validate; terraform test with mocked AWS</a:t>
            </a:r>
            <a:endParaRPr lang="en-US" sz="1250" dirty="0"/>
          </a:p>
        </p:txBody>
      </p:sp>
      <p:sp>
        <p:nvSpPr>
          <p:cNvPr id="9" name="arrow"/>
          <p:cNvSpPr/>
          <p:nvPr/>
        </p:nvSpPr>
        <p:spPr>
          <a:xfrm>
            <a:off x="3182112" y="2194560"/>
            <a:ext cx="16459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f-Plan"/>
          <p:cNvSpPr/>
          <p:nvPr/>
        </p:nvSpPr>
        <p:spPr>
          <a:xfrm>
            <a:off x="3374136" y="160020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tep-2"/>
          <p:cNvSpPr/>
          <p:nvPr/>
        </p:nvSpPr>
        <p:spPr>
          <a:xfrm>
            <a:off x="3557016" y="17556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5701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17556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57016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64 to add, 0 to change, 0 to destroy</a:t>
            </a:r>
            <a:endParaRPr lang="en-US" sz="1250" dirty="0"/>
          </a:p>
        </p:txBody>
      </p:sp>
      <p:sp>
        <p:nvSpPr>
          <p:cNvPr id="15" name="arrow"/>
          <p:cNvSpPr/>
          <p:nvPr/>
        </p:nvSpPr>
        <p:spPr>
          <a:xfrm>
            <a:off x="6007608" y="2194560"/>
            <a:ext cx="16459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f-Apply"/>
          <p:cNvSpPr/>
          <p:nvPr/>
        </p:nvSpPr>
        <p:spPr>
          <a:xfrm>
            <a:off x="6199632" y="160020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tep-3"/>
          <p:cNvSpPr/>
          <p:nvPr/>
        </p:nvSpPr>
        <p:spPr>
          <a:xfrm>
            <a:off x="6382512" y="17556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825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17556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Apply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58 resources; EKS Active, 2 nodes Ready</a:t>
            </a:r>
            <a:endParaRPr lang="en-US" sz="1250" dirty="0"/>
          </a:p>
        </p:txBody>
      </p:sp>
      <p:sp>
        <p:nvSpPr>
          <p:cNvPr id="21" name="arrow"/>
          <p:cNvSpPr/>
          <p:nvPr/>
        </p:nvSpPr>
        <p:spPr>
          <a:xfrm>
            <a:off x="8833104" y="2194560"/>
            <a:ext cx="16459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f-Destroy"/>
          <p:cNvSpPr/>
          <p:nvPr/>
        </p:nvSpPr>
        <p:spPr>
          <a:xfrm>
            <a:off x="9025128" y="160020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step-4"/>
          <p:cNvSpPr/>
          <p:nvPr/>
        </p:nvSpPr>
        <p:spPr>
          <a:xfrm>
            <a:off x="9208008" y="17556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0800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756648" y="17556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Destroy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08008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58 destroyed; the sweep finds nothing left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0175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 tfplan</a:t>
            </a:r>
            <a:endParaRPr lang="en-US" sz="1200" dirty="0"/>
          </a:p>
        </p:txBody>
      </p:sp>
      <p:sp>
        <p:nvSpPr>
          <p:cNvPr id="28" name="tf-plan-frame"/>
          <p:cNvSpPr/>
          <p:nvPr/>
        </p:nvSpPr>
        <p:spPr>
          <a:xfrm>
            <a:off x="548640" y="3337560"/>
            <a:ext cx="6035040" cy="1363087"/>
          </a:xfrm>
          <a:prstGeom prst="roundRect">
            <a:avLst>
              <a:gd name="adj" fmla="val 603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9" name="tf-plan" descr="terraform plan output: Plan: 64 to add, 0 to change, 0 to destroy, region ap-southeast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37560"/>
            <a:ext cx="6035040" cy="1363087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548640" y="4901815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scripts/eks-teardown.sh → terraform destroy</a:t>
            </a:r>
            <a:endParaRPr lang="en-US" sz="1200" dirty="0"/>
          </a:p>
        </p:txBody>
      </p:sp>
      <p:sp>
        <p:nvSpPr>
          <p:cNvPr id="31" name="tf-destroy-frame"/>
          <p:cNvSpPr/>
          <p:nvPr/>
        </p:nvSpPr>
        <p:spPr>
          <a:xfrm>
            <a:off x="548640" y="5221855"/>
            <a:ext cx="6035040" cy="795205"/>
          </a:xfrm>
          <a:prstGeom prst="roundRect">
            <a:avLst>
              <a:gd name="adj" fmla="val 103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32" name="tf-destroy" descr="terraform destroy output: Destroy complete, 58 destroyed; instances terminated; 0 clusters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21855"/>
            <a:ext cx="6035040" cy="795205"/>
          </a:xfrm>
          <a:prstGeom prst="rect">
            <a:avLst/>
          </a:prstGeom>
        </p:spPr>
      </p:pic>
      <p:sp>
        <p:nvSpPr>
          <p:cNvPr id="33" name="guardrails"/>
          <p:cNvSpPr/>
          <p:nvPr/>
        </p:nvSpPr>
        <p:spPr>
          <a:xfrm>
            <a:off x="6903720" y="3017520"/>
            <a:ext cx="4736592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4" name="Text 30"/>
          <p:cNvSpPr txBox="1"/>
          <p:nvPr/>
        </p:nvSpPr>
        <p:spPr>
          <a:xfrm>
            <a:off x="713232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Free-plan account limits, handled in code</a:t>
            </a:r>
            <a:endParaRPr lang="en-US" sz="1500" dirty="0"/>
          </a:p>
        </p:txBody>
      </p:sp>
      <p:sp>
        <p:nvSpPr>
          <p:cNvPr id="35" name="guard0-dot"/>
          <p:cNvSpPr/>
          <p:nvPr/>
        </p:nvSpPr>
        <p:spPr>
          <a:xfrm>
            <a:off x="7132320" y="3675888"/>
            <a:ext cx="402336" cy="40233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6" name="guard0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834" y="3764402"/>
            <a:ext cx="225308" cy="22530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680960" y="363931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Only ap-southeast-2 allowed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aws_region in terraform.tfvars</a:t>
            </a:r>
            <a:endParaRPr lang="en-US" sz="1400" dirty="0"/>
          </a:p>
        </p:txBody>
      </p:sp>
      <p:sp>
        <p:nvSpPr>
          <p:cNvPr id="38" name="guard1-dot"/>
          <p:cNvSpPr/>
          <p:nvPr/>
        </p:nvSpPr>
        <p:spPr>
          <a:xfrm>
            <a:off x="7132320" y="4389120"/>
            <a:ext cx="402336" cy="40233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9" name="guard1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834" y="4477634"/>
            <a:ext cx="225308" cy="225308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680960" y="43525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Free-tier instance types only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node group on m7i-flex.large (8 GiB)</a:t>
            </a:r>
            <a:endParaRPr lang="en-US" sz="1400" dirty="0"/>
          </a:p>
        </p:txBody>
      </p:sp>
      <p:sp>
        <p:nvSpPr>
          <p:cNvPr id="41" name="guard2-dot"/>
          <p:cNvSpPr/>
          <p:nvPr/>
        </p:nvSpPr>
        <p:spPr>
          <a:xfrm>
            <a:off x="7132320" y="5102352"/>
            <a:ext cx="402336" cy="40233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2" name="guard2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834" y="5190866"/>
            <a:ext cx="225308" cy="225308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680960" y="506577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IAM OIDC providers denied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EBS CSI via EKS Pod Identity; GitHub OIDC role off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7132320" y="5788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The 64-resource plan included the optional GitHub OIDC role; the final environment had 58.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M8 · KUBERNETES + HELM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Helm chart, a self-healing release</a:t>
            </a:r>
            <a:endParaRPr lang="en-US" sz="3600" dirty="0"/>
          </a:p>
        </p:txBody>
      </p:sp>
      <p:sp>
        <p:nvSpPr>
          <p:cNvPr id="4" name="pods-frame"/>
          <p:cNvSpPr/>
          <p:nvPr/>
        </p:nvSpPr>
        <p:spPr>
          <a:xfrm>
            <a:off x="548640" y="1600200"/>
            <a:ext cx="6172200" cy="2832216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pods" descr="kubectl get pods: two backend, two frontend and one postgres pod Running, images tagged b5f98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172200" cy="2832216"/>
          </a:xfrm>
          <a:prstGeom prst="rect">
            <a:avLst/>
          </a:prstGeom>
        </p:spPr>
      </p:pic>
      <p:sp>
        <p:nvSpPr>
          <p:cNvPr id="6" name="host"/>
          <p:cNvSpPr/>
          <p:nvPr/>
        </p:nvSpPr>
        <p:spPr>
          <a:xfrm>
            <a:off x="548640" y="5074920"/>
            <a:ext cx="214884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Ingress (Traefik)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stockpilot.localtest.me</a:t>
            </a:r>
            <a:endParaRPr lang="en-US" sz="1400" dirty="0"/>
          </a:p>
        </p:txBody>
      </p:sp>
      <p:sp>
        <p:nvSpPr>
          <p:cNvPr id="8" name="route0"/>
          <p:cNvSpPr/>
          <p:nvPr/>
        </p:nvSpPr>
        <p:spPr>
          <a:xfrm>
            <a:off x="3154680" y="4709160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291840" y="4709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  /docs  /openapi.json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stockpilot-backend:8000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 flipV="1">
            <a:off x="2734056" y="5029200"/>
            <a:ext cx="384048" cy="4114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route1"/>
          <p:cNvSpPr/>
          <p:nvPr/>
        </p:nvSpPr>
        <p:spPr>
          <a:xfrm>
            <a:off x="3154680" y="5486400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291840" y="5486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stockpilot-frontend:80</a:t>
            </a:r>
            <a:endParaRPr lang="en-US" sz="1200" dirty="0"/>
          </a:p>
        </p:txBody>
      </p:sp>
      <p:sp>
        <p:nvSpPr>
          <p:cNvPr id="13" name="arrow"/>
          <p:cNvSpPr/>
          <p:nvPr/>
        </p:nvSpPr>
        <p:spPr>
          <a:xfrm>
            <a:off x="2734056" y="5440680"/>
            <a:ext cx="384048" cy="3657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k8s-Deployments"/>
          <p:cNvSpPr/>
          <p:nvPr/>
        </p:nvSpPr>
        <p:spPr>
          <a:xfrm>
            <a:off x="6995160" y="1600200"/>
            <a:ext cx="2258568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159752" y="1709928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Deployments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backend + frontend, 2 replicas, maxUnavailable 0</a:t>
            </a:r>
            <a:endParaRPr lang="en-US" sz="1400" dirty="0"/>
          </a:p>
        </p:txBody>
      </p:sp>
      <p:sp>
        <p:nvSpPr>
          <p:cNvPr id="16" name="k8s-Services"/>
          <p:cNvSpPr/>
          <p:nvPr/>
        </p:nvSpPr>
        <p:spPr>
          <a:xfrm>
            <a:off x="9381744" y="1600200"/>
            <a:ext cx="2258568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546336" y="1709928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Services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 × ClusterIP: backend, frontend, postgres</a:t>
            </a:r>
            <a:endParaRPr lang="en-US" sz="1400" dirty="0"/>
          </a:p>
        </p:txBody>
      </p:sp>
      <p:sp>
        <p:nvSpPr>
          <p:cNvPr id="18" name="k8s-HPA"/>
          <p:cNvSpPr/>
          <p:nvPr/>
        </p:nvSpPr>
        <p:spPr>
          <a:xfrm>
            <a:off x="6995160" y="2752344"/>
            <a:ext cx="2258568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159752" y="2862072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HPA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backend 2 → 6 pods at 60% CPU</a:t>
            </a:r>
            <a:endParaRPr lang="en-US" sz="1400" dirty="0"/>
          </a:p>
        </p:txBody>
      </p:sp>
      <p:sp>
        <p:nvSpPr>
          <p:cNvPr id="20" name="k8s-PodDisruptionBudgets"/>
          <p:cNvSpPr/>
          <p:nvPr/>
        </p:nvSpPr>
        <p:spPr>
          <a:xfrm>
            <a:off x="9381744" y="2752344"/>
            <a:ext cx="2258568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546336" y="2862072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PodDisruptionBudgets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at least 1 pod per tier during drains</a:t>
            </a:r>
            <a:endParaRPr lang="en-US" sz="1400" dirty="0"/>
          </a:p>
        </p:txBody>
      </p:sp>
      <p:sp>
        <p:nvSpPr>
          <p:cNvPr id="22" name="k8s-StatefulSet"/>
          <p:cNvSpPr/>
          <p:nvPr/>
        </p:nvSpPr>
        <p:spPr>
          <a:xfrm>
            <a:off x="6995160" y="3904488"/>
            <a:ext cx="2258568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159752" y="4014216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StatefulSet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PostgreSQL 17 with a PVC (gp3 on EKS)</a:t>
            </a:r>
            <a:endParaRPr lang="en-US" sz="1400" dirty="0"/>
          </a:p>
        </p:txBody>
      </p:sp>
      <p:sp>
        <p:nvSpPr>
          <p:cNvPr id="24" name="k8s-Probes"/>
          <p:cNvSpPr/>
          <p:nvPr/>
        </p:nvSpPr>
        <p:spPr>
          <a:xfrm>
            <a:off x="9381744" y="3904488"/>
            <a:ext cx="2258568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9546336" y="4014216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Probes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startup, liveness /health, readiness /ready</a:t>
            </a:r>
            <a:endParaRPr lang="en-US" sz="1400" dirty="0"/>
          </a:p>
        </p:txBody>
      </p:sp>
      <p:sp>
        <p:nvSpPr>
          <p:cNvPr id="26" name="k8s-Secret + ConfigMap"/>
          <p:cNvSpPr/>
          <p:nvPr/>
        </p:nvSpPr>
        <p:spPr>
          <a:xfrm>
            <a:off x="6995160" y="5056632"/>
            <a:ext cx="2258568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159752" y="516636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Secret + ConfigMap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generated DB password, app settings</a:t>
            </a:r>
            <a:endParaRPr lang="en-US" sz="1400" dirty="0"/>
          </a:p>
        </p:txBody>
      </p:sp>
      <p:sp>
        <p:nvSpPr>
          <p:cNvPr id="28" name="k8s-helm test"/>
          <p:cNvSpPr/>
          <p:nvPr/>
        </p:nvSpPr>
        <p:spPr>
          <a:xfrm>
            <a:off x="9381744" y="5056632"/>
            <a:ext cx="2258568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9546336" y="516636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helm test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checks /ready, /api/stats and the UI proxy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M8 · AUTOSCALING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HPA scales 2 → 6 pods under load</a:t>
            </a:r>
            <a:endParaRPr lang="en-US" sz="3600" dirty="0"/>
          </a:p>
        </p:txBody>
      </p:sp>
      <p:sp>
        <p:nvSpPr>
          <p:cNvPr id="4" name="chart-card"/>
          <p:cNvSpPr/>
          <p:nvPr/>
        </p:nvSpPr>
        <p:spPr>
          <a:xfrm>
            <a:off x="548640" y="1600200"/>
            <a:ext cx="772668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737360"/>
          <a:ext cx="7452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hpa-2 → 6"/>
          <p:cNvSpPr/>
          <p:nvPr/>
        </p:nvSpPr>
        <p:spPr>
          <a:xfrm>
            <a:off x="8549640" y="1600200"/>
            <a:ext cx="3090672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2 → 6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backend pods, up to maxReplicas</a:t>
            </a:r>
            <a:endParaRPr lang="en-US" sz="1300" dirty="0"/>
          </a:p>
        </p:txBody>
      </p:sp>
      <p:sp>
        <p:nvSpPr>
          <p:cNvPr id="9" name="hpa-411%"/>
          <p:cNvSpPr/>
          <p:nvPr/>
        </p:nvSpPr>
        <p:spPr>
          <a:xfrm>
            <a:off x="8549640" y="3191256"/>
            <a:ext cx="3090672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778240" y="332841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411%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4014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peak CPU against the 60% target</a:t>
            </a:r>
            <a:endParaRPr lang="en-US" sz="1300" dirty="0"/>
          </a:p>
        </p:txBody>
      </p:sp>
      <p:sp>
        <p:nvSpPr>
          <p:cNvPr id="12" name="hpa-90 s"/>
          <p:cNvSpPr/>
          <p:nvPr/>
        </p:nvSpPr>
        <p:spPr>
          <a:xfrm>
            <a:off x="8549640" y="4782312"/>
            <a:ext cx="3090672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778240" y="49194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90 s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56052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from the first load to 6 replicas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M9 · OBSERVABILITY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Metrics from the code to the dashboard</a:t>
            </a:r>
            <a:endParaRPr lang="en-US" sz="3600" dirty="0"/>
          </a:p>
        </p:txBody>
      </p:sp>
      <p:sp>
        <p:nvSpPr>
          <p:cNvPr id="4" name="node-/metrics"/>
          <p:cNvSpPr/>
          <p:nvPr/>
        </p:nvSpPr>
        <p:spPr>
          <a:xfrm>
            <a:off x="548640" y="1572768"/>
            <a:ext cx="2464308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/metrics-dot"/>
          <p:cNvSpPr/>
          <p:nvPr/>
        </p:nvSpPr>
        <p:spPr>
          <a:xfrm>
            <a:off x="676656" y="1746504"/>
            <a:ext cx="402336" cy="40233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/metrics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70" y="1835018"/>
            <a:ext cx="225308" cy="2253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45920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/metrics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HTTP + business metrics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058668" y="1947672"/>
            <a:ext cx="3200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node-ServiceMonitor"/>
          <p:cNvSpPr/>
          <p:nvPr/>
        </p:nvSpPr>
        <p:spPr>
          <a:xfrm>
            <a:off x="3424428" y="1572768"/>
            <a:ext cx="2464308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erviceMonitor-dot"/>
          <p:cNvSpPr/>
          <p:nvPr/>
        </p:nvSpPr>
        <p:spPr>
          <a:xfrm>
            <a:off x="3552444" y="1746504"/>
            <a:ext cx="402336" cy="40233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ServiceMonitor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958" y="1835018"/>
            <a:ext cx="225308" cy="2253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4508" y="1645920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ServiceMonitor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every backend pod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5934456" y="1947672"/>
            <a:ext cx="3200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node-Prometheus"/>
          <p:cNvSpPr/>
          <p:nvPr/>
        </p:nvSpPr>
        <p:spPr>
          <a:xfrm>
            <a:off x="6300216" y="1572768"/>
            <a:ext cx="2464308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Prometheus-dot"/>
          <p:cNvSpPr/>
          <p:nvPr/>
        </p:nvSpPr>
        <p:spPr>
          <a:xfrm>
            <a:off x="6428232" y="1746504"/>
            <a:ext cx="402336" cy="40233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Prometheus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46" y="1835018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0296" y="1645920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Prometheus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scrapes, evaluates alerts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810244" y="1947672"/>
            <a:ext cx="3200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node-Grafana"/>
          <p:cNvSpPr/>
          <p:nvPr/>
        </p:nvSpPr>
        <p:spPr>
          <a:xfrm>
            <a:off x="9176004" y="1572768"/>
            <a:ext cx="2464308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Grafana-dot"/>
          <p:cNvSpPr/>
          <p:nvPr/>
        </p:nvSpPr>
        <p:spPr>
          <a:xfrm>
            <a:off x="9304020" y="1746504"/>
            <a:ext cx="402336" cy="40233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1" name="Grafana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534" y="1835018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16084" y="1645920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Grafana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16-panel dashboard</a:t>
            </a:r>
            <a:endParaRPr lang="en-US" sz="1400" dirty="0"/>
          </a:p>
        </p:txBody>
      </p:sp>
      <p:sp>
        <p:nvSpPr>
          <p:cNvPr id="23" name="grafana-frame"/>
          <p:cNvSpPr/>
          <p:nvPr/>
        </p:nvSpPr>
        <p:spPr>
          <a:xfrm>
            <a:off x="548640" y="2606040"/>
            <a:ext cx="6400800" cy="3572447"/>
          </a:xfrm>
          <a:prstGeom prst="roundRect">
            <a:avLst>
              <a:gd name="adj" fmla="val 23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4" name="grafana" descr="Grafana StockPilot dashboard: request rate, error rate, p95 latency, pods up and inventory pane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06040"/>
            <a:ext cx="6400800" cy="3572447"/>
          </a:xfrm>
          <a:prstGeom prst="rect">
            <a:avLst/>
          </a:prstGeom>
        </p:spPr>
      </p:pic>
      <p:sp>
        <p:nvSpPr>
          <p:cNvPr id="25" name="prom-targets-frame"/>
          <p:cNvSpPr/>
          <p:nvPr/>
        </p:nvSpPr>
        <p:spPr>
          <a:xfrm>
            <a:off x="7223760" y="2606040"/>
            <a:ext cx="4416552" cy="1271967"/>
          </a:xfrm>
          <a:prstGeom prst="roundRect">
            <a:avLst>
              <a:gd name="adj" fmla="val 49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6" name="prom-targets" descr="Prometheus target health: serviceMonitor stockpilot-backend, 2 of 2 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2606040"/>
            <a:ext cx="4416552" cy="127196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23760" y="3942015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Prometheus targets: 2 / 2 backend pods UP</a:t>
            </a:r>
            <a:endParaRPr lang="en-US" sz="1100" dirty="0"/>
          </a:p>
        </p:txBody>
      </p:sp>
      <p:sp>
        <p:nvSpPr>
          <p:cNvPr id="28" name="alerts"/>
          <p:cNvSpPr/>
          <p:nvPr/>
        </p:nvSpPr>
        <p:spPr>
          <a:xfrm>
            <a:off x="7223760" y="4335207"/>
            <a:ext cx="4416552" cy="1836993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9" name="Text 21"/>
          <p:cNvSpPr txBox="1"/>
          <p:nvPr/>
        </p:nvSpPr>
        <p:spPr>
          <a:xfrm>
            <a:off x="7452360" y="4472367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Alert rules (PrometheusRule)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7452360" y="4865559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StockPilotBackendDown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no backend target up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StockPilotHighErrorRate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5xx above 5%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StockPilotSlowRequests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p95 above 500 ms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StockPilotProductsOutOfStock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business alert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TROUBLESHOOTING LAB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broken workloads, diagnosed and fixed</a:t>
            </a:r>
            <a:endParaRPr lang="en-US" sz="3600" dirty="0"/>
          </a:p>
        </p:txBody>
      </p:sp>
      <p:sp>
        <p:nvSpPr>
          <p:cNvPr id="4" name="lab-0"/>
          <p:cNvSpPr/>
          <p:nvPr/>
        </p:nvSpPr>
        <p:spPr>
          <a:xfrm>
            <a:off x="548640" y="1600200"/>
            <a:ext cx="2560320" cy="36576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lab0-dot"/>
          <p:cNvSpPr/>
          <p:nvPr/>
        </p:nvSpPr>
        <p:spPr>
          <a:xfrm>
            <a:off x="777240" y="1810512"/>
            <a:ext cx="548640" cy="548640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6" name="lab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31213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01-broken-image.yaml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ImagePullBackOff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73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CAUSE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021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image tag does not exist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279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FIX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507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Point at a pushed SHA tag</a:t>
            </a:r>
            <a:endParaRPr lang="en-US" sz="1400" dirty="0"/>
          </a:p>
        </p:txBody>
      </p:sp>
      <p:sp>
        <p:nvSpPr>
          <p:cNvPr id="13" name="lab-1"/>
          <p:cNvSpPr/>
          <p:nvPr/>
        </p:nvSpPr>
        <p:spPr>
          <a:xfrm>
            <a:off x="3392424" y="1600200"/>
            <a:ext cx="2560320" cy="36576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lab1-dot"/>
          <p:cNvSpPr/>
          <p:nvPr/>
        </p:nvSpPr>
        <p:spPr>
          <a:xfrm>
            <a:off x="3621024" y="1810512"/>
            <a:ext cx="548640" cy="548640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15" name="lab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725" y="193121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21024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02-broken-service.yaml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621024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No endpoints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3621024" y="3273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CAUSE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621024" y="35021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Service selector matches no pod labels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621024" y="4279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FIX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621024" y="4507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Patch the selector to the pod labels</a:t>
            </a:r>
            <a:endParaRPr lang="en-US" sz="1400" dirty="0"/>
          </a:p>
        </p:txBody>
      </p:sp>
      <p:sp>
        <p:nvSpPr>
          <p:cNvPr id="22" name="lab-2"/>
          <p:cNvSpPr/>
          <p:nvPr/>
        </p:nvSpPr>
        <p:spPr>
          <a:xfrm>
            <a:off x="6236208" y="1600200"/>
            <a:ext cx="2560320" cy="36576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lab2-dot"/>
          <p:cNvSpPr/>
          <p:nvPr/>
        </p:nvSpPr>
        <p:spPr>
          <a:xfrm>
            <a:off x="6464808" y="1810512"/>
            <a:ext cx="548640" cy="548640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24" name="lab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509" y="1931213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64808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03-crashloop-…yaml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464808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CrashLoopBackOff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6464808" y="3273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CAUSE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6464808" y="35021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DATABASE_URL points at a host that does not exist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6464808" y="4279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FIX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6464808" y="4507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DATABASE_URL from the chart's Secret</a:t>
            </a:r>
            <a:endParaRPr lang="en-US" sz="1400" dirty="0"/>
          </a:p>
        </p:txBody>
      </p:sp>
      <p:sp>
        <p:nvSpPr>
          <p:cNvPr id="31" name="lab-3"/>
          <p:cNvSpPr/>
          <p:nvPr/>
        </p:nvSpPr>
        <p:spPr>
          <a:xfrm>
            <a:off x="9079992" y="1600200"/>
            <a:ext cx="2560320" cy="36576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2" name="lab3-dot"/>
          <p:cNvSpPr/>
          <p:nvPr/>
        </p:nvSpPr>
        <p:spPr>
          <a:xfrm>
            <a:off x="9308592" y="1810512"/>
            <a:ext cx="548640" cy="548640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33" name="lab3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293" y="1931213"/>
            <a:ext cx="307238" cy="30723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308592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04-failing-readiness-…yaml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9308592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Running, 0/1 Ready</a:t>
            </a:r>
            <a:endParaRPr lang="en-US" sz="1700" dirty="0"/>
          </a:p>
        </p:txBody>
      </p:sp>
      <p:sp>
        <p:nvSpPr>
          <p:cNvPr id="36" name="Text 30"/>
          <p:cNvSpPr txBox="1"/>
          <p:nvPr/>
        </p:nvSpPr>
        <p:spPr>
          <a:xfrm>
            <a:off x="9308592" y="3273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CAUSE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9308592" y="35021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readiness probe checks the wrong port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9308592" y="4279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FIX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9308592" y="4507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Probe the container port</a:t>
            </a:r>
            <a:endParaRPr lang="en-US" sz="1400" dirty="0"/>
          </a:p>
        </p:txBody>
      </p:sp>
      <p:sp>
        <p:nvSpPr>
          <p:cNvPr id="40" name="method-kubectl get"/>
          <p:cNvSpPr/>
          <p:nvPr/>
        </p:nvSpPr>
        <p:spPr>
          <a:xfrm>
            <a:off x="548640" y="5532120"/>
            <a:ext cx="1828800" cy="56692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77240" y="5532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</a:t>
            </a:r>
            <a:endParaRPr lang="en-US" sz="1300" dirty="0"/>
          </a:p>
        </p:txBody>
      </p:sp>
      <p:sp>
        <p:nvSpPr>
          <p:cNvPr id="42" name="method-describe"/>
          <p:cNvSpPr/>
          <p:nvPr/>
        </p:nvSpPr>
        <p:spPr>
          <a:xfrm>
            <a:off x="2404872" y="5532120"/>
            <a:ext cx="1828800" cy="56692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2633472" y="5532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describe</a:t>
            </a:r>
            <a:endParaRPr lang="en-US" sz="1300" dirty="0"/>
          </a:p>
        </p:txBody>
      </p:sp>
      <p:sp>
        <p:nvSpPr>
          <p:cNvPr id="44" name="method-logs"/>
          <p:cNvSpPr/>
          <p:nvPr/>
        </p:nvSpPr>
        <p:spPr>
          <a:xfrm>
            <a:off x="4261104" y="5532120"/>
            <a:ext cx="1828800" cy="56692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4489704" y="5532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logs</a:t>
            </a:r>
            <a:endParaRPr lang="en-US" sz="1300" dirty="0"/>
          </a:p>
        </p:txBody>
      </p:sp>
      <p:sp>
        <p:nvSpPr>
          <p:cNvPr id="46" name="method-events"/>
          <p:cNvSpPr/>
          <p:nvPr/>
        </p:nvSpPr>
        <p:spPr>
          <a:xfrm>
            <a:off x="6117336" y="5532120"/>
            <a:ext cx="1828800" cy="56692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6345936" y="5532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events</a:t>
            </a:r>
            <a:endParaRPr lang="en-US" sz="1300" dirty="0"/>
          </a:p>
        </p:txBody>
      </p:sp>
      <p:sp>
        <p:nvSpPr>
          <p:cNvPr id="48" name="method-fix"/>
          <p:cNvSpPr/>
          <p:nvPr/>
        </p:nvSpPr>
        <p:spPr>
          <a:xfrm>
            <a:off x="7973568" y="5532120"/>
            <a:ext cx="1828800" cy="566928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8202168" y="5532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fix</a:t>
            </a:r>
            <a:endParaRPr lang="en-US" sz="1300" dirty="0"/>
          </a:p>
        </p:txBody>
      </p:sp>
      <p:sp>
        <p:nvSpPr>
          <p:cNvPr id="50" name="method-verify"/>
          <p:cNvSpPr/>
          <p:nvPr/>
        </p:nvSpPr>
        <p:spPr>
          <a:xfrm>
            <a:off x="9829800" y="5532120"/>
            <a:ext cx="1828800" cy="566928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10058400" y="5532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verify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M10 · LIVE DEMO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Commit → pipeline → deployment update</a:t>
            </a:r>
            <a:endParaRPr lang="en-US" sz="3600" dirty="0"/>
          </a:p>
        </p:txBody>
      </p:sp>
      <p:sp>
        <p:nvSpPr>
          <p:cNvPr id="4" name="demo-Commit"/>
          <p:cNvSpPr/>
          <p:nvPr/>
        </p:nvSpPr>
        <p:spPr>
          <a:xfrm>
            <a:off x="548640" y="160020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tep-1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10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Change the dashboard subtitle in frontend/src/App.jsx, commit and push to main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145536" y="2715768"/>
            <a:ext cx="21031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demo-Pipeline"/>
          <p:cNvSpPr/>
          <p:nvPr/>
        </p:nvSpPr>
        <p:spPr>
          <a:xfrm>
            <a:off x="3392424" y="160020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tep-2"/>
          <p:cNvSpPr/>
          <p:nvPr/>
        </p:nvSpPr>
        <p:spPr>
          <a:xfrm>
            <a:off x="3621024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2102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15384" y="1810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Pipeline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468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Tests, frontend build and IaC checks, then build → Trivy gate → push :&lt;sha&gt;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5989320" y="2715768"/>
            <a:ext cx="21031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demo-Deploy"/>
          <p:cNvSpPr/>
          <p:nvPr/>
        </p:nvSpPr>
        <p:spPr>
          <a:xfrm>
            <a:off x="6236208" y="160020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tep-3"/>
          <p:cNvSpPr/>
          <p:nvPr/>
        </p:nvSpPr>
        <p:spPr>
          <a:xfrm>
            <a:off x="6464808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480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1810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Deploy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2468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helm upgrade with both image tags set to the new SHA; rolling update, zero downtime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8833104" y="2715768"/>
            <a:ext cx="21031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demo-Verify"/>
          <p:cNvSpPr/>
          <p:nvPr/>
        </p:nvSpPr>
        <p:spPr>
          <a:xfrm>
            <a:off x="9079992" y="160020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step-4"/>
          <p:cNvSpPr/>
          <p:nvPr/>
        </p:nvSpPr>
        <p:spPr>
          <a:xfrm>
            <a:off x="9308592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085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902952" y="1810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08592" y="2468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New pods Running, a new Helm revision, and the new SHA in the UI and /api/info</a:t>
            </a:r>
            <a:endParaRPr lang="en-US" sz="1400" dirty="0"/>
          </a:p>
        </p:txBody>
      </p:sp>
      <p:sp>
        <p:nvSpPr>
          <p:cNvPr id="27" name="terminal"/>
          <p:cNvSpPr/>
          <p:nvPr/>
        </p:nvSpPr>
        <p:spPr>
          <a:xfrm>
            <a:off x="548640" y="4069080"/>
            <a:ext cx="11091672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224528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-am "feat(ui): update dashboard subtitle" &amp;&amp; git push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CI: backend-test, frontend-build, iac-validate → build-scan-push → ghcr.io/…:&lt;sha&gt;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SHA=$(git rev-parse HEAD); REG=ghcr.io/milesmoralis2411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stockpilot ./helm/stockpilot -n stockpilot -f helm/stockpilot/values-dev.yaml --wait \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 backend.image.repository=$REG/stockpilot-backend   --set backend.image.tag=$SHA \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 frontend.image.repository=$REG/stockpilot-frontend --set frontend.image.tag=$SHA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stockpilot &amp;&amp; helm history stockpilot -n stockpilot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http://stockpilot.localtest.me/api/info        # git_sha = the new commit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M10 · RELEASE EVIDENCE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Commit b5f9880, traced end to end</a:t>
            </a:r>
            <a:endParaRPr lang="en-US" sz="3600" dirty="0"/>
          </a:p>
        </p:txBody>
      </p:sp>
      <p:sp>
        <p:nvSpPr>
          <p:cNvPr id="4" name="step-1"/>
          <p:cNvSpPr/>
          <p:nvPr/>
        </p:nvSpPr>
        <p:spPr>
          <a:xfrm>
            <a:off x="548640" y="160020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600200"/>
            <a:ext cx="601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CI run #6 on b5f9880: every job green in 2 m 21 s</a:t>
            </a:r>
            <a:endParaRPr lang="en-US" sz="1300" dirty="0"/>
          </a:p>
        </p:txBody>
      </p:sp>
      <p:sp>
        <p:nvSpPr>
          <p:cNvPr id="7" name="ci-run-head-frame"/>
          <p:cNvSpPr/>
          <p:nvPr/>
        </p:nvSpPr>
        <p:spPr>
          <a:xfrm>
            <a:off x="548640" y="1984248"/>
            <a:ext cx="6400800" cy="1246472"/>
          </a:xfrm>
          <a:prstGeom prst="roundRect">
            <a:avLst>
              <a:gd name="adj" fmla="val 66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ci-run-head" descr="GitHub Actions run 6 for commit b5f9880: status Success, total duration 2m 21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84248"/>
            <a:ext cx="6400800" cy="1246472"/>
          </a:xfrm>
          <a:prstGeom prst="rect">
            <a:avLst/>
          </a:prstGeom>
        </p:spPr>
      </p:pic>
      <p:sp>
        <p:nvSpPr>
          <p:cNvPr id="9" name="step-3"/>
          <p:cNvSpPr/>
          <p:nvPr/>
        </p:nvSpPr>
        <p:spPr>
          <a:xfrm>
            <a:off x="548640" y="34593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3459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459320"/>
            <a:ext cx="601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Every app pod runs the image tagged b5f9880…</a:t>
            </a:r>
            <a:endParaRPr lang="en-US" sz="1300" dirty="0"/>
          </a:p>
        </p:txBody>
      </p:sp>
      <p:sp>
        <p:nvSpPr>
          <p:cNvPr id="12" name="pods-images-frame"/>
          <p:cNvSpPr/>
          <p:nvPr/>
        </p:nvSpPr>
        <p:spPr>
          <a:xfrm>
            <a:off x="548640" y="3843368"/>
            <a:ext cx="6400800" cy="1043609"/>
          </a:xfrm>
          <a:prstGeom prst="roundRect">
            <a:avLst>
              <a:gd name="adj" fmla="val 78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3" name="pods-images" descr="kubectl output: backend and frontend pods all use images tagged b5f9880df9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3368"/>
            <a:ext cx="6400800" cy="1043609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48640" y="5115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48640" y="511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" y="5115576"/>
            <a:ext cx="601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/api/info through the Ingress returns the same git_sha</a:t>
            </a:r>
            <a:endParaRPr lang="en-US" sz="1300" dirty="0"/>
          </a:p>
        </p:txBody>
      </p:sp>
      <p:sp>
        <p:nvSpPr>
          <p:cNvPr id="17" name="api-info-frame"/>
          <p:cNvSpPr/>
          <p:nvPr/>
        </p:nvSpPr>
        <p:spPr>
          <a:xfrm>
            <a:off x="548640" y="5499624"/>
            <a:ext cx="6400800" cy="388620"/>
          </a:xfrm>
          <a:prstGeom prst="roundRect">
            <a:avLst>
              <a:gd name="adj" fmla="val 211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8" name="api-info" descr="curl /api/info returns git_sha b5f9880df9500fe6a916cc442d0b3ef947bbaa5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99624"/>
            <a:ext cx="6400800" cy="388620"/>
          </a:xfrm>
          <a:prstGeom prst="rect">
            <a:avLst/>
          </a:prstGeom>
        </p:spPr>
      </p:pic>
      <p:sp>
        <p:nvSpPr>
          <p:cNvPr id="19" name="step-2"/>
          <p:cNvSpPr/>
          <p:nvPr/>
        </p:nvSpPr>
        <p:spPr>
          <a:xfrm>
            <a:off x="7269480" y="160020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26948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653528" y="160020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GHCR: image pushed with the full SHA as its tag</a:t>
            </a:r>
            <a:endParaRPr lang="en-US" sz="1300" dirty="0"/>
          </a:p>
        </p:txBody>
      </p:sp>
      <p:sp>
        <p:nvSpPr>
          <p:cNvPr id="22" name="ghcr-frame"/>
          <p:cNvSpPr/>
          <p:nvPr/>
        </p:nvSpPr>
        <p:spPr>
          <a:xfrm>
            <a:off x="7269480" y="1984248"/>
            <a:ext cx="4370832" cy="2270562"/>
          </a:xfrm>
          <a:prstGeom prst="roundRect">
            <a:avLst>
              <a:gd name="adj" fmla="val 27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3" name="ghcr" descr="GitHub Container Registry: stockpilot-backend tagged b5f9880df9500fe6a916cc442d0b3ef947bbaa5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984248"/>
            <a:ext cx="4370832" cy="2270562"/>
          </a:xfrm>
          <a:prstGeom prst="rect">
            <a:avLst/>
          </a:prstGeom>
        </p:spPr>
      </p:pic>
      <p:sp>
        <p:nvSpPr>
          <p:cNvPr id="24" name="step-5"/>
          <p:cNvSpPr/>
          <p:nvPr/>
        </p:nvSpPr>
        <p:spPr>
          <a:xfrm>
            <a:off x="7269480" y="448341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269480" y="44834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653528" y="448341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UI sidebar shows the running build</a:t>
            </a:r>
            <a:endParaRPr lang="en-US" sz="1300" dirty="0"/>
          </a:p>
        </p:txBody>
      </p:sp>
      <p:sp>
        <p:nvSpPr>
          <p:cNvPr id="27" name="sidebar-frame"/>
          <p:cNvSpPr/>
          <p:nvPr/>
        </p:nvSpPr>
        <p:spPr>
          <a:xfrm>
            <a:off x="7269480" y="4867458"/>
            <a:ext cx="1691640" cy="1284872"/>
          </a:xfrm>
          <a:prstGeom prst="roundRect">
            <a:avLst>
              <a:gd name="adj" fmla="val 18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8" name="sidebar" descr="StockPilot sidebar: API online, build b5f9880, environment kind-loc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4867458"/>
            <a:ext cx="1691640" cy="128487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89720" y="4867458"/>
            <a:ext cx="2450592" cy="128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b5f9880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same SHA at every stage: commit, pipeline, registry, pods, API and 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ENGINEERING DECISIONS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Decisions behind the build</a:t>
            </a:r>
            <a:endParaRPr lang="en-US" sz="3600" dirty="0"/>
          </a:p>
        </p:txBody>
      </p:sp>
      <p:sp>
        <p:nvSpPr>
          <p:cNvPr id="4" name="dec-0"/>
          <p:cNvSpPr/>
          <p:nvPr/>
        </p:nvSpPr>
        <p:spPr>
          <a:xfrm>
            <a:off x="548640" y="1600200"/>
            <a:ext cx="351129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mage tag = commit SHA-dot"/>
          <p:cNvSpPr/>
          <p:nvPr/>
        </p:nvSpPr>
        <p:spPr>
          <a:xfrm>
            <a:off x="804672" y="1856232"/>
            <a:ext cx="530352" cy="53035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Image tag = commit SHA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1972909"/>
            <a:ext cx="296997" cy="2969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85623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Image tag = commit SHA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560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Immutable, traceable releases; latest is never deployed, and rollback is helm rollback</a:t>
            </a:r>
            <a:endParaRPr lang="en-US" sz="1500" dirty="0"/>
          </a:p>
        </p:txBody>
      </p:sp>
      <p:sp>
        <p:nvSpPr>
          <p:cNvPr id="9" name="dec-1"/>
          <p:cNvSpPr/>
          <p:nvPr/>
        </p:nvSpPr>
        <p:spPr>
          <a:xfrm>
            <a:off x="4338828" y="1600200"/>
            <a:ext cx="351129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Liveness ≠ readiness-dot"/>
          <p:cNvSpPr/>
          <p:nvPr/>
        </p:nvSpPr>
        <p:spPr>
          <a:xfrm>
            <a:off x="4594860" y="1856232"/>
            <a:ext cx="530352" cy="53035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Liveness ≠ readiness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537" y="1972909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71516" y="185623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Liveness ≠ readiness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94860" y="2560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/health skips the database, so an outage stops traffic without restart loops</a:t>
            </a:r>
            <a:endParaRPr lang="en-US" sz="1500" dirty="0"/>
          </a:p>
        </p:txBody>
      </p:sp>
      <p:sp>
        <p:nvSpPr>
          <p:cNvPr id="14" name="dec-2"/>
          <p:cNvSpPr/>
          <p:nvPr/>
        </p:nvSpPr>
        <p:spPr>
          <a:xfrm>
            <a:off x="8129016" y="1600200"/>
            <a:ext cx="351129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Audit-first data model-dot"/>
          <p:cNvSpPr/>
          <p:nvPr/>
        </p:nvSpPr>
        <p:spPr>
          <a:xfrm>
            <a:off x="8385048" y="1856232"/>
            <a:ext cx="530352" cy="53035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Audit-first data model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725" y="1972909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61704" y="185623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Audit-first data model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85048" y="2560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Quantity changes only through logged adjustments, locked against overselling</a:t>
            </a:r>
            <a:endParaRPr lang="en-US" sz="1500" dirty="0"/>
          </a:p>
        </p:txBody>
      </p:sp>
      <p:sp>
        <p:nvSpPr>
          <p:cNvPr id="19" name="dec-3"/>
          <p:cNvSpPr/>
          <p:nvPr/>
        </p:nvSpPr>
        <p:spPr>
          <a:xfrm>
            <a:off x="548640" y="3931920"/>
            <a:ext cx="351129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afe migrations-dot"/>
          <p:cNvSpPr/>
          <p:nvPr/>
        </p:nvSpPr>
        <p:spPr>
          <a:xfrm>
            <a:off x="804672" y="4187952"/>
            <a:ext cx="530352" cy="53035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1" name="Safe migrations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49" y="4304629"/>
            <a:ext cx="296997" cy="29699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81328" y="4187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 migrations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Alembic runs at start-up under an advisory lock, so N replicas migrate once</a:t>
            </a:r>
            <a:endParaRPr lang="en-US" sz="1500" dirty="0"/>
          </a:p>
        </p:txBody>
      </p:sp>
      <p:sp>
        <p:nvSpPr>
          <p:cNvPr id="24" name="dec-4"/>
          <p:cNvSpPr/>
          <p:nvPr/>
        </p:nvSpPr>
        <p:spPr>
          <a:xfrm>
            <a:off x="4338828" y="3931920"/>
            <a:ext cx="351129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raefik for Ingress-dot"/>
          <p:cNvSpPr/>
          <p:nvPr/>
        </p:nvSpPr>
        <p:spPr>
          <a:xfrm>
            <a:off x="4594860" y="4187952"/>
            <a:ext cx="530352" cy="53035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6" name="Traefik for Ingress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537" y="4304629"/>
            <a:ext cx="296997" cy="29699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71516" y="4187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Traefik for Ingress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9486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ingress-nginx was retired in March 2026; the Ingress stays standard networking.k8s.io/v1</a:t>
            </a:r>
            <a:endParaRPr lang="en-US" sz="1500" dirty="0"/>
          </a:p>
        </p:txBody>
      </p:sp>
      <p:sp>
        <p:nvSpPr>
          <p:cNvPr id="29" name="dec-5"/>
          <p:cNvSpPr/>
          <p:nvPr/>
        </p:nvSpPr>
        <p:spPr>
          <a:xfrm>
            <a:off x="8129016" y="3931920"/>
            <a:ext cx="351129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Pinned everything-dot"/>
          <p:cNvSpPr/>
          <p:nvPr/>
        </p:nvSpPr>
        <p:spPr>
          <a:xfrm>
            <a:off x="8385048" y="4187952"/>
            <a:ext cx="530352" cy="53035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1" name="Pinned everything-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1725" y="4304629"/>
            <a:ext cx="296997" cy="29699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61704" y="4187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Pinned everything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85048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Lockfiles, chart versions, the Terraform lock file and SHA-pinned GitHub Actions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GRADING RUBRIC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module, with evidence in the repo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640080"/>
                <a:gridCol w="5120640"/>
                <a:gridCol w="26791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Pts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Delivered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M1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FastAPI with 11 endpoints, Alembic tables, responsive React UI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m1-*.png, Swagger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M2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Testing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51 pytest tests, 99% coverage, isolated test database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m2-pytest-v.png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M3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Git + GitHub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Public repo, conventional commits, .gitignore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m3-*.png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M4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Docker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Multi-stage, non-root images; Compose with healthchecks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m4-*.png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M5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CI/CD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Test → build → scan → push to GHCR with SHA tags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Actions run 37837734675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M6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Trivy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HIGH/CRITICAL gate; CVEs explained and fixed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SECURITY.md, m6-*.png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M7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Terraform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VPC + EKS on real AWS: plan, apply, destroy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m7-aws-*.png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M8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Kubernetes + Helm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Chart, Ingress, HPA; 5/5 pods Running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m8-*.png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M9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Observability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/metrics, Prometheus UP, 16-panel Grafana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m9-*.png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M10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Docs + demo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README, this deck, live commit → deployment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README.md, slides 15–16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Index: docs/SCREENSHOTS.md · map: docs/SUBMISSION-CHECKLIST.md</a:t>
                      </a:r>
                      <a:endParaRPr lang="en-US" sz="1300" dirty="0"/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THANK YOU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783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One git push tests, scans and publishes a traceable version. Helm ships it, Kubernetes keeps it healthy, Prometheus and Grafana show what it is doing.</a:t>
            </a:r>
            <a:endParaRPr lang="en-US" sz="2000" dirty="0"/>
          </a:p>
        </p:txBody>
      </p:sp>
      <p:sp>
        <p:nvSpPr>
          <p:cNvPr id="5" name="Repository-dot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chemeClr val="accent3">
              <a:alpha val="20000"/>
            </a:schemeClr>
          </a:solidFill>
          <a:ln/>
        </p:spPr>
      </p:sp>
      <p:pic>
        <p:nvPicPr>
          <p:cNvPr id="6" name="Repository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4435937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434340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Repository  </a:t>
            </a:r>
            <a:pPr indent="0" marL="0">
              <a:buNone/>
            </a:pPr>
            <a:r>
              <a:rPr lang="en-US" sz="1400" u="sng" dirty="0">
                <a:solidFill>
                  <a:schemeClr val="accent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github.com/milesmoralis2411/devops_project_24bcs10326</a:t>
            </a:r>
            <a:endParaRPr lang="en-US" sz="1400" dirty="0"/>
          </a:p>
        </p:txBody>
      </p:sp>
      <p:sp>
        <p:nvSpPr>
          <p:cNvPr id="8" name="Evidence-dot"/>
          <p:cNvSpPr/>
          <p:nvPr/>
        </p:nvSpPr>
        <p:spPr>
          <a:xfrm>
            <a:off x="548640" y="4910328"/>
            <a:ext cx="420624" cy="420624"/>
          </a:xfrm>
          <a:prstGeom prst="ellipse">
            <a:avLst/>
          </a:prstGeom>
          <a:solidFill>
            <a:schemeClr val="accent3">
              <a:alpha val="20000"/>
            </a:schemeClr>
          </a:solidFill>
          <a:ln/>
        </p:spPr>
      </p:sp>
      <p:pic>
        <p:nvPicPr>
          <p:cNvPr id="9" name="Evidence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5002865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491032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Evidence  </a:t>
            </a:r>
            <a:pPr indent="0" marL="0">
              <a:buNone/>
            </a:pPr>
            <a:r>
              <a:rPr lang="en-US" sz="1400" u="sng" dirty="0">
                <a:solidFill>
                  <a:schemeClr val="accent3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docs/SCREENSHOTS.md · docs/SUBMISSION-CHECKLIST.md</a:t>
            </a:r>
            <a:endParaRPr lang="en-US" sz="1400" dirty="0"/>
          </a:p>
        </p:txBody>
      </p:sp>
      <p:sp>
        <p:nvSpPr>
          <p:cNvPr id="11" name="Pipeline-dot"/>
          <p:cNvSpPr/>
          <p:nvPr/>
        </p:nvSpPr>
        <p:spPr>
          <a:xfrm>
            <a:off x="548640" y="5477256"/>
            <a:ext cx="420624" cy="420624"/>
          </a:xfrm>
          <a:prstGeom prst="ellipse">
            <a:avLst/>
          </a:prstGeom>
          <a:solidFill>
            <a:schemeClr val="accent3">
              <a:alpha val="20000"/>
            </a:schemeClr>
          </a:solidFill>
          <a:ln/>
        </p:spPr>
      </p:sp>
      <p:pic>
        <p:nvPicPr>
          <p:cNvPr id="12" name="Pipeline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5569793"/>
            <a:ext cx="235549" cy="2355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15568" y="5477256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Pipeline  </a:t>
            </a:r>
            <a:pPr indent="0" marL="0">
              <a:buNone/>
            </a:pPr>
            <a:r>
              <a:rPr lang="en-US" sz="1400" u="sng" dirty="0">
                <a:solidFill>
                  <a:schemeClr val="accent3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Actions run 37837734675</a:t>
            </a:r>
            <a:endParaRPr lang="en-US" sz="1400" dirty="0"/>
          </a:p>
        </p:txBody>
      </p:sp>
      <p:sp>
        <p:nvSpPr>
          <p:cNvPr id="14" name="qr-card"/>
          <p:cNvSpPr/>
          <p:nvPr/>
        </p:nvSpPr>
        <p:spPr>
          <a:xfrm>
            <a:off x="8183880" y="1600200"/>
            <a:ext cx="3108960" cy="310896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/>
        </p:spPr>
      </p:sp>
      <p:pic>
        <p:nvPicPr>
          <p:cNvPr id="15" name="qr" descr="QR code linking to the GitHub repository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1783080"/>
            <a:ext cx="2743200" cy="2743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183880" y="4846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Scan for the repository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Pilot">
  <a:themeElements>
    <a:clrScheme name="StockPilot">
      <a:dk1>
        <a:srgbClr val="0F172A"/>
      </a:dk1>
      <a:lt1>
        <a:srgbClr val="FFFFFF"/>
      </a:lt1>
      <a:dk2>
        <a:srgbClr val="0B1324"/>
      </a:dk2>
      <a:lt2>
        <a:srgbClr val="F4F6FB"/>
      </a:lt2>
      <a:accent1>
        <a:srgbClr val="0D9488"/>
      </a:accent1>
      <a:accent2>
        <a:srgbClr val="D97706"/>
      </a:accent2>
      <a:accent3>
        <a:srgbClr val="5EEAD4"/>
      </a:accent3>
      <a:accent4>
        <a:srgbClr val="16A34A"/>
      </a:accent4>
      <a:accent5>
        <a:srgbClr val="DC2626"/>
      </a:accent5>
      <a:accent6>
        <a:srgbClr val="64748B"/>
      </a:accent6>
      <a:hlink>
        <a:srgbClr val="0D9488"/>
      </a:hlink>
      <a:folHlink>
        <a:srgbClr val="0F766E"/>
      </a:folHlink>
    </a:clrScheme>
    <a:fontScheme name="StockPil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DevOps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StockPilot: DevOps capstone demo</dc:title>
  <dc:subject>Inventory management, from laptop to monitored Kubernetes</dc:subject>
  <dc:creator>Varun Mundada</dc:creator>
  <cp:lastModifiedBy>Varun Mundada</cp:lastModifiedBy>
  <cp:revision>1</cp:revision>
  <dcterms:created xsi:type="dcterms:W3CDTF">2026-10-17T07:12:59Z</dcterms:created>
  <dcterms:modified xsi:type="dcterms:W3CDTF">2026-10-17T07:12:59Z</dcterms:modified>
</cp:coreProperties>
</file>